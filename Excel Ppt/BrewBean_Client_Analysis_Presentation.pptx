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e23991c99dc046aa/Desktop/excel%20task/excel%20final%20task.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c:name>
    <c:fmtId val="14"/>
  </c:pivotSource>
  <c:chart>
    <c:title>
      <c:tx>
        <c:rich>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r>
              <a:rPr lang="en-IN"/>
              <a:t>REVENUE BY OUTLET</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tint val="98000"/>
                  <a:lumMod val="114000"/>
                </a:schemeClr>
              </a:gs>
              <a:gs pos="100000">
                <a:schemeClr val="accent6">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tint val="98000"/>
                  <a:lumMod val="114000"/>
                </a:schemeClr>
              </a:gs>
              <a:gs pos="100000">
                <a:schemeClr val="accent6">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tint val="98000"/>
                  <a:lumMod val="114000"/>
                </a:schemeClr>
              </a:gs>
              <a:gs pos="100000">
                <a:schemeClr val="accent6">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table'!$B$211</c:f>
              <c:strCache>
                <c:ptCount val="1"/>
                <c:pt idx="0">
                  <c:v>Total</c:v>
                </c:pt>
              </c:strCache>
            </c:strRef>
          </c:tx>
          <c:spPr>
            <a:gradFill rotWithShape="1">
              <a:gsLst>
                <a:gs pos="0">
                  <a:schemeClr val="accent6">
                    <a:tint val="98000"/>
                    <a:lumMod val="114000"/>
                  </a:schemeClr>
                </a:gs>
                <a:gs pos="100000">
                  <a:schemeClr val="accent6">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cat>
            <c:strRef>
              <c:f>'pivot table'!$A$212:$A$222</c:f>
              <c:strCache>
                <c:ptCount val="10"/>
                <c:pt idx="0">
                  <c:v>BrewBean Gandhipuram</c:v>
                </c:pt>
                <c:pt idx="1">
                  <c:v>BrewBean Madurai</c:v>
                </c:pt>
                <c:pt idx="2">
                  <c:v>BrewBean Peelamedu</c:v>
                </c:pt>
                <c:pt idx="3">
                  <c:v>BrewBean Pollachi</c:v>
                </c:pt>
                <c:pt idx="4">
                  <c:v>BrewBean RS Puram</c:v>
                </c:pt>
                <c:pt idx="5">
                  <c:v>BrewBean Saibaba Colony</c:v>
                </c:pt>
                <c:pt idx="6">
                  <c:v>BrewBean Salem</c:v>
                </c:pt>
                <c:pt idx="7">
                  <c:v>BrewBean Saravanampatti</c:v>
                </c:pt>
                <c:pt idx="8">
                  <c:v>BrewBean Tiruppur</c:v>
                </c:pt>
                <c:pt idx="9">
                  <c:v>BrewBean Trichy</c:v>
                </c:pt>
              </c:strCache>
            </c:strRef>
          </c:cat>
          <c:val>
            <c:numRef>
              <c:f>'pivot table'!$B$212:$B$222</c:f>
              <c:numCache>
                <c:formatCode>0.00</c:formatCode>
                <c:ptCount val="10"/>
                <c:pt idx="0">
                  <c:v>26953.81</c:v>
                </c:pt>
                <c:pt idx="1">
                  <c:v>30232.660000000003</c:v>
                </c:pt>
                <c:pt idx="2">
                  <c:v>33881.55000000001</c:v>
                </c:pt>
                <c:pt idx="3">
                  <c:v>30021.660000000007</c:v>
                </c:pt>
                <c:pt idx="4">
                  <c:v>30195.58</c:v>
                </c:pt>
                <c:pt idx="5">
                  <c:v>27636.01999999999</c:v>
                </c:pt>
                <c:pt idx="6">
                  <c:v>25460.589999999993</c:v>
                </c:pt>
                <c:pt idx="7">
                  <c:v>34439.339999999989</c:v>
                </c:pt>
                <c:pt idx="8">
                  <c:v>27683.239999999991</c:v>
                </c:pt>
                <c:pt idx="9">
                  <c:v>27184.03</c:v>
                </c:pt>
              </c:numCache>
            </c:numRef>
          </c:val>
          <c:extLst>
            <c:ext xmlns:c16="http://schemas.microsoft.com/office/drawing/2014/chart" uri="{C3380CC4-5D6E-409C-BE32-E72D297353CC}">
              <c16:uniqueId val="{00000000-BA8F-4015-8CBE-942262BB73A8}"/>
            </c:ext>
          </c:extLst>
        </c:ser>
        <c:dLbls>
          <c:showLegendKey val="0"/>
          <c:showVal val="0"/>
          <c:showCatName val="0"/>
          <c:showSerName val="0"/>
          <c:showPercent val="0"/>
          <c:showBubbleSize val="0"/>
        </c:dLbls>
        <c:gapWidth val="100"/>
        <c:overlap val="-24"/>
        <c:axId val="1515366031"/>
        <c:axId val="395216911"/>
      </c:barChart>
      <c:catAx>
        <c:axId val="1515366031"/>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395216911"/>
        <c:crosses val="autoZero"/>
        <c:auto val="1"/>
        <c:lblAlgn val="ctr"/>
        <c:lblOffset val="100"/>
        <c:noMultiLvlLbl val="0"/>
      </c:catAx>
      <c:valAx>
        <c:axId val="39521691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51536603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table!PivotTable4</c:name>
    <c:fmtId val="10"/>
  </c:pivotSource>
  <c:chart>
    <c:title>
      <c:tx>
        <c:rich>
          <a:bodyPr rot="0" spcFirstLastPara="1" vertOverflow="ellipsis" vert="horz" wrap="square" anchor="ctr" anchorCtr="1"/>
          <a:lstStyle/>
          <a:p>
            <a:pPr algn="ctr">
              <a:defRPr sz="1400" b="1" i="0" u="none" strike="noStrike" kern="1200" spc="0" baseline="0">
                <a:solidFill>
                  <a:schemeClr val="dk1"/>
                </a:solidFill>
                <a:latin typeface="+mn-lt"/>
                <a:ea typeface="+mn-ea"/>
                <a:cs typeface="+mn-cs"/>
              </a:defRPr>
            </a:pPr>
            <a:r>
              <a:rPr lang="en-US" b="1"/>
              <a:t>PROFIT BY OUTLET</a:t>
            </a:r>
          </a:p>
        </c:rich>
      </c:tx>
      <c:overlay val="0"/>
      <c:spPr>
        <a:noFill/>
        <a:ln>
          <a:noFill/>
        </a:ln>
        <a:effectLst/>
      </c:spPr>
      <c:txPr>
        <a:bodyPr rot="0" spcFirstLastPara="1" vertOverflow="ellipsis" vert="horz" wrap="square" anchor="ctr" anchorCtr="1"/>
        <a:lstStyle/>
        <a:p>
          <a:pPr algn="ctr">
            <a:defRPr sz="1400" b="1" i="0" u="none" strike="noStrike" kern="1200" spc="0" baseline="0">
              <a:solidFill>
                <a:schemeClr val="dk1"/>
              </a:solidFill>
              <a:latin typeface="+mn-lt"/>
              <a:ea typeface="+mn-ea"/>
              <a:cs typeface="+mn-cs"/>
            </a:defRPr>
          </a:pPr>
          <a:endParaRPr lang="en-US"/>
        </a:p>
      </c:txPr>
    </c:title>
    <c:autoTitleDeleted val="0"/>
    <c:pivotFmts>
      <c:pivotFmt>
        <c:idx val="0"/>
        <c:spPr>
          <a:solidFill>
            <a:schemeClr val="accent6"/>
          </a:solidFill>
          <a:ln>
            <a:noFill/>
          </a:ln>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6"/>
          </a:solidFill>
          <a:ln>
            <a:noFill/>
          </a:ln>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6"/>
          </a:solidFill>
          <a:ln>
            <a:noFill/>
          </a:ln>
          <a:effectLst/>
          <a:sp3d/>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'pivot table'!$B$16</c:f>
              <c:strCache>
                <c:ptCount val="1"/>
                <c:pt idx="0">
                  <c:v>Total</c:v>
                </c:pt>
              </c:strCache>
            </c:strRef>
          </c:tx>
          <c:spPr>
            <a:solidFill>
              <a:schemeClr val="accent6"/>
            </a:solidFill>
            <a:ln>
              <a:noFill/>
            </a:ln>
            <a:effectLst/>
            <a:sp3d/>
          </c:spPr>
          <c:invertIfNegative val="0"/>
          <c:cat>
            <c:strRef>
              <c:f>'pivot table'!$A$17:$A$27</c:f>
              <c:strCache>
                <c:ptCount val="10"/>
                <c:pt idx="0">
                  <c:v>BrewBean Gandhipuram</c:v>
                </c:pt>
                <c:pt idx="1">
                  <c:v>BrewBean Madurai</c:v>
                </c:pt>
                <c:pt idx="2">
                  <c:v>BrewBean Peelamedu</c:v>
                </c:pt>
                <c:pt idx="3">
                  <c:v>BrewBean Pollachi</c:v>
                </c:pt>
                <c:pt idx="4">
                  <c:v>BrewBean RS Puram</c:v>
                </c:pt>
                <c:pt idx="5">
                  <c:v>BrewBean Saibaba Colony</c:v>
                </c:pt>
                <c:pt idx="6">
                  <c:v>BrewBean Salem</c:v>
                </c:pt>
                <c:pt idx="7">
                  <c:v>BrewBean Saravanampatti</c:v>
                </c:pt>
                <c:pt idx="8">
                  <c:v>BrewBean Tiruppur</c:v>
                </c:pt>
                <c:pt idx="9">
                  <c:v>BrewBean Trichy</c:v>
                </c:pt>
              </c:strCache>
            </c:strRef>
          </c:cat>
          <c:val>
            <c:numRef>
              <c:f>'pivot table'!$B$17:$B$27</c:f>
              <c:numCache>
                <c:formatCode>0.00</c:formatCode>
                <c:ptCount val="10"/>
                <c:pt idx="0">
                  <c:v>16078.810000000003</c:v>
                </c:pt>
                <c:pt idx="1">
                  <c:v>18065.66</c:v>
                </c:pt>
                <c:pt idx="2">
                  <c:v>20971.55000000001</c:v>
                </c:pt>
                <c:pt idx="3">
                  <c:v>18244.66</c:v>
                </c:pt>
                <c:pt idx="4">
                  <c:v>17574.580000000002</c:v>
                </c:pt>
                <c:pt idx="5">
                  <c:v>16635.02</c:v>
                </c:pt>
                <c:pt idx="6">
                  <c:v>15104.589999999997</c:v>
                </c:pt>
                <c:pt idx="7">
                  <c:v>20289.339999999997</c:v>
                </c:pt>
                <c:pt idx="8">
                  <c:v>16472.239999999998</c:v>
                </c:pt>
                <c:pt idx="9">
                  <c:v>16433.03</c:v>
                </c:pt>
              </c:numCache>
            </c:numRef>
          </c:val>
          <c:extLst>
            <c:ext xmlns:c16="http://schemas.microsoft.com/office/drawing/2014/chart" uri="{C3380CC4-5D6E-409C-BE32-E72D297353CC}">
              <c16:uniqueId val="{00000000-5591-4964-B6F0-89BA0204B883}"/>
            </c:ext>
          </c:extLst>
        </c:ser>
        <c:dLbls>
          <c:showLegendKey val="0"/>
          <c:showVal val="0"/>
          <c:showCatName val="0"/>
          <c:showSerName val="0"/>
          <c:showPercent val="0"/>
          <c:showBubbleSize val="0"/>
        </c:dLbls>
        <c:gapWidth val="150"/>
        <c:shape val="box"/>
        <c:axId val="351816287"/>
        <c:axId val="411903567"/>
        <c:axId val="0"/>
      </c:bar3DChart>
      <c:catAx>
        <c:axId val="35181628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411903567"/>
        <c:crosses val="autoZero"/>
        <c:auto val="1"/>
        <c:lblAlgn val="ctr"/>
        <c:lblOffset val="100"/>
        <c:noMultiLvlLbl val="0"/>
      </c:catAx>
      <c:valAx>
        <c:axId val="411903567"/>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3518162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table!PivotTable16</c:name>
    <c:fmtId val="19"/>
  </c:pivotSource>
  <c:chart>
    <c:title>
      <c:tx>
        <c:rich>
          <a:bodyPr rot="0" spcFirstLastPara="1" vertOverflow="ellipsis" vert="horz" wrap="square" anchor="ctr" anchorCtr="1"/>
          <a:lstStyle/>
          <a:p>
            <a:pPr>
              <a:defRPr sz="1400" b="1" i="0" u="none" strike="noStrike" kern="1200" spc="0" baseline="0">
                <a:solidFill>
                  <a:schemeClr val="dk1"/>
                </a:solidFill>
                <a:latin typeface="+mn-lt"/>
                <a:ea typeface="+mn-ea"/>
                <a:cs typeface="+mn-cs"/>
              </a:defRPr>
            </a:pPr>
            <a:r>
              <a:rPr lang="en-US" b="1"/>
              <a:t>SALES BY MONTH</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dk1"/>
              </a:solidFill>
              <a:latin typeface="+mn-lt"/>
              <a:ea typeface="+mn-ea"/>
              <a:cs typeface="+mn-cs"/>
            </a:defRPr>
          </a:pPr>
          <a:endParaRPr lang="en-US"/>
        </a:p>
      </c:txPr>
    </c:title>
    <c:autoTitleDeleted val="0"/>
    <c:pivotFmts>
      <c:pivotFmt>
        <c:idx val="0"/>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a:sp3d/>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table'!$B$131</c:f>
              <c:strCache>
                <c:ptCount val="1"/>
                <c:pt idx="0">
                  <c:v>Total</c:v>
                </c:pt>
              </c:strCache>
            </c:strRef>
          </c:tx>
          <c:spPr>
            <a:solidFill>
              <a:schemeClr val="accent6"/>
            </a:solidFill>
            <a:ln>
              <a:noFill/>
            </a:ln>
            <a:effectLst/>
            <a:sp3d/>
          </c:spPr>
          <c:invertIfNegative val="0"/>
          <c:cat>
            <c:strRef>
              <c:f>'pivot table'!$A$132:$A$138</c:f>
              <c:strCache>
                <c:ptCount val="6"/>
                <c:pt idx="0">
                  <c:v>Jan</c:v>
                </c:pt>
                <c:pt idx="1">
                  <c:v>Feb</c:v>
                </c:pt>
                <c:pt idx="2">
                  <c:v>Mar</c:v>
                </c:pt>
                <c:pt idx="3">
                  <c:v>Apr</c:v>
                </c:pt>
                <c:pt idx="4">
                  <c:v>May</c:v>
                </c:pt>
                <c:pt idx="5">
                  <c:v>Jun</c:v>
                </c:pt>
              </c:strCache>
            </c:strRef>
          </c:cat>
          <c:val>
            <c:numRef>
              <c:f>'pivot table'!$B$132:$B$138</c:f>
              <c:numCache>
                <c:formatCode>0.00</c:formatCode>
                <c:ptCount val="6"/>
                <c:pt idx="0">
                  <c:v>54124.92</c:v>
                </c:pt>
                <c:pt idx="1">
                  <c:v>47296.69999999999</c:v>
                </c:pt>
                <c:pt idx="2">
                  <c:v>53849.869999999995</c:v>
                </c:pt>
                <c:pt idx="3">
                  <c:v>49037.4</c:v>
                </c:pt>
                <c:pt idx="4">
                  <c:v>47719.89999999998</c:v>
                </c:pt>
                <c:pt idx="5">
                  <c:v>41659.69000000001</c:v>
                </c:pt>
              </c:numCache>
            </c:numRef>
          </c:val>
          <c:extLst>
            <c:ext xmlns:c16="http://schemas.microsoft.com/office/drawing/2014/chart" uri="{C3380CC4-5D6E-409C-BE32-E72D297353CC}">
              <c16:uniqueId val="{00000000-3F83-4848-8635-92024A05181C}"/>
            </c:ext>
          </c:extLst>
        </c:ser>
        <c:dLbls>
          <c:showLegendKey val="0"/>
          <c:showVal val="0"/>
          <c:showCatName val="0"/>
          <c:showSerName val="0"/>
          <c:showPercent val="0"/>
          <c:showBubbleSize val="0"/>
        </c:dLbls>
        <c:gapWidth val="150"/>
        <c:shape val="box"/>
        <c:axId val="322841055"/>
        <c:axId val="434258479"/>
        <c:axId val="0"/>
      </c:bar3DChart>
      <c:catAx>
        <c:axId val="32284105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434258479"/>
        <c:crosses val="autoZero"/>
        <c:auto val="1"/>
        <c:lblAlgn val="ctr"/>
        <c:lblOffset val="100"/>
        <c:noMultiLvlLbl val="0"/>
      </c:catAx>
      <c:valAx>
        <c:axId val="43425847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3228410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table!PivotTable12</c:name>
    <c:fmtId val="33"/>
  </c:pivotSource>
  <c:chart>
    <c:title>
      <c:tx>
        <c:rich>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r>
              <a:rPr lang="en-IN"/>
              <a:t>CAYEGORY BY REVENUE</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dk1"/>
              </a:solidFill>
              <a:latin typeface="+mn-lt"/>
              <a:ea typeface="+mn-ea"/>
              <a:cs typeface="+mn-cs"/>
            </a:defRPr>
          </a:pPr>
          <a:endParaRPr lang="en-IN"/>
        </a:p>
      </c:txPr>
    </c:title>
    <c:autoTitleDeleted val="0"/>
    <c:pivotFmts>
      <c:pivotFmt>
        <c:idx val="0"/>
      </c:pivotFmt>
      <c:pivotFmt>
        <c:idx val="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tint val="98000"/>
                  <a:lumMod val="114000"/>
                </a:schemeClr>
              </a:gs>
              <a:gs pos="100000">
                <a:schemeClr val="accent6">
                  <a:shade val="90000"/>
                  <a:lumMod val="84000"/>
                </a:schemeClr>
              </a:gs>
            </a:gsLst>
            <a:lin ang="5400000" scaled="0"/>
          </a:gradFill>
          <a:ln w="34925" cap="rnd">
            <a:solidFill>
              <a:schemeClr val="accent6"/>
            </a:solidFill>
            <a:roun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tint val="98000"/>
                    <a:lumMod val="114000"/>
                  </a:schemeClr>
                </a:gs>
                <a:gs pos="100000">
                  <a:schemeClr val="accent6">
                    <a:shade val="90000"/>
                    <a:lumMod val="84000"/>
                  </a:schemeClr>
                </a:gs>
              </a:gsLst>
              <a:lin ang="5400000" scaled="0"/>
            </a:gradFill>
            <a:ln w="9525">
              <a:solidFill>
                <a:schemeClr val="accent6"/>
              </a:solidFill>
              <a:roun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tint val="98000"/>
                  <a:lumMod val="114000"/>
                </a:schemeClr>
              </a:gs>
              <a:gs pos="100000">
                <a:schemeClr val="accent6">
                  <a:shade val="90000"/>
                  <a:lumMod val="84000"/>
                </a:schemeClr>
              </a:gs>
            </a:gsLst>
            <a:lin ang="5400000" scaled="0"/>
          </a:gradFill>
          <a:ln w="34925" cap="rnd">
            <a:solidFill>
              <a:schemeClr val="accent6"/>
            </a:solidFill>
            <a:roun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tint val="98000"/>
                    <a:lumMod val="114000"/>
                  </a:schemeClr>
                </a:gs>
                <a:gs pos="100000">
                  <a:schemeClr val="accent6">
                    <a:shade val="90000"/>
                    <a:lumMod val="84000"/>
                  </a:schemeClr>
                </a:gs>
              </a:gsLst>
              <a:lin ang="5400000" scaled="0"/>
            </a:gradFill>
            <a:ln w="9525">
              <a:solidFill>
                <a:schemeClr val="accent6"/>
              </a:solidFill>
              <a:roun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w="34925" cap="rnd">
            <a:solidFill>
              <a:schemeClr val="accent6"/>
            </a:solidFill>
            <a:round/>
          </a:ln>
          <a:effectLst>
            <a:outerShdw blurRad="63500" dist="38100" dir="5400000" rotWithShape="0">
              <a:srgbClr val="000000">
                <a:alpha val="60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6">
                    <a:tint val="98000"/>
                    <a:lumMod val="114000"/>
                  </a:schemeClr>
                </a:gs>
                <a:gs pos="100000">
                  <a:schemeClr val="accent6">
                    <a:shade val="90000"/>
                    <a:lumMod val="84000"/>
                  </a:schemeClr>
                </a:gs>
              </a:gsLst>
              <a:lin ang="5400000" scaled="0"/>
            </a:gradFill>
            <a:ln w="9525">
              <a:solidFill>
                <a:schemeClr val="accent6"/>
              </a:solidFill>
              <a:roun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table'!$B$94</c:f>
              <c:strCache>
                <c:ptCount val="1"/>
                <c:pt idx="0">
                  <c:v>Total</c:v>
                </c:pt>
              </c:strCache>
            </c:strRef>
          </c:tx>
          <c:spPr>
            <a:ln w="34925" cap="rnd">
              <a:solidFill>
                <a:schemeClr val="accent6"/>
              </a:solidFill>
              <a:round/>
            </a:ln>
            <a:effectLst>
              <a:outerShdw blurRad="63500" dist="38100" dir="5400000" rotWithShape="0">
                <a:srgbClr val="000000">
                  <a:alpha val="60000"/>
                </a:srgbClr>
              </a:outerShdw>
            </a:effectLst>
          </c:spPr>
          <c:marker>
            <c:symbol val="circle"/>
            <c:size val="6"/>
            <c:spPr>
              <a:gradFill rotWithShape="1">
                <a:gsLst>
                  <a:gs pos="0">
                    <a:schemeClr val="accent6">
                      <a:tint val="98000"/>
                      <a:lumMod val="114000"/>
                    </a:schemeClr>
                  </a:gs>
                  <a:gs pos="100000">
                    <a:schemeClr val="accent6">
                      <a:shade val="90000"/>
                      <a:lumMod val="84000"/>
                    </a:schemeClr>
                  </a:gs>
                </a:gsLst>
                <a:lin ang="5400000" scaled="0"/>
              </a:gradFill>
              <a:ln w="9525">
                <a:solidFill>
                  <a:schemeClr val="accent6"/>
                </a:solidFill>
                <a:roun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marker>
          <c:cat>
            <c:strRef>
              <c:f>'pivot table'!$A$95:$A$110</c:f>
              <c:strCache>
                <c:ptCount val="15"/>
                <c:pt idx="0">
                  <c:v>Beverage</c:v>
                </c:pt>
                <c:pt idx="1">
                  <c:v>Burger</c:v>
                </c:pt>
                <c:pt idx="2">
                  <c:v>Cake</c:v>
                </c:pt>
                <c:pt idx="3">
                  <c:v>Coffee</c:v>
                </c:pt>
                <c:pt idx="4">
                  <c:v>Cold Coffee</c:v>
                </c:pt>
                <c:pt idx="5">
                  <c:v>Cookies</c:v>
                </c:pt>
                <c:pt idx="6">
                  <c:v>Dessert</c:v>
                </c:pt>
                <c:pt idx="7">
                  <c:v>Frappes</c:v>
                </c:pt>
                <c:pt idx="8">
                  <c:v>Fresh Juice</c:v>
                </c:pt>
                <c:pt idx="9">
                  <c:v>Pastry</c:v>
                </c:pt>
                <c:pt idx="10">
                  <c:v>Sandwich</c:v>
                </c:pt>
                <c:pt idx="11">
                  <c:v>Sides</c:v>
                </c:pt>
                <c:pt idx="12">
                  <c:v>Smoothie</c:v>
                </c:pt>
                <c:pt idx="13">
                  <c:v>Tea</c:v>
                </c:pt>
                <c:pt idx="14">
                  <c:v>Wrap</c:v>
                </c:pt>
              </c:strCache>
            </c:strRef>
          </c:cat>
          <c:val>
            <c:numRef>
              <c:f>'pivot table'!$B$95:$B$110</c:f>
              <c:numCache>
                <c:formatCode>0.00</c:formatCode>
                <c:ptCount val="15"/>
                <c:pt idx="0">
                  <c:v>13971.569999999998</c:v>
                </c:pt>
                <c:pt idx="1">
                  <c:v>15317.110000000004</c:v>
                </c:pt>
                <c:pt idx="2">
                  <c:v>26360.239999999987</c:v>
                </c:pt>
                <c:pt idx="3">
                  <c:v>23201.37</c:v>
                </c:pt>
                <c:pt idx="4">
                  <c:v>25755.58</c:v>
                </c:pt>
                <c:pt idx="5">
                  <c:v>16981.240000000002</c:v>
                </c:pt>
                <c:pt idx="6">
                  <c:v>14225.290000000003</c:v>
                </c:pt>
                <c:pt idx="7">
                  <c:v>19969.86</c:v>
                </c:pt>
                <c:pt idx="8">
                  <c:v>32364.28</c:v>
                </c:pt>
                <c:pt idx="9">
                  <c:v>20664.260000000002</c:v>
                </c:pt>
                <c:pt idx="10">
                  <c:v>15403.37</c:v>
                </c:pt>
                <c:pt idx="11">
                  <c:v>22076.030000000002</c:v>
                </c:pt>
                <c:pt idx="12">
                  <c:v>18095.879999999994</c:v>
                </c:pt>
                <c:pt idx="13">
                  <c:v>17811.640000000003</c:v>
                </c:pt>
                <c:pt idx="14">
                  <c:v>11490.759999999998</c:v>
                </c:pt>
              </c:numCache>
            </c:numRef>
          </c:val>
          <c:smooth val="0"/>
          <c:extLst>
            <c:ext xmlns:c16="http://schemas.microsoft.com/office/drawing/2014/chart" uri="{C3380CC4-5D6E-409C-BE32-E72D297353CC}">
              <c16:uniqueId val="{00000000-E44D-4AF4-9023-3213F56812C3}"/>
            </c:ext>
          </c:extLst>
        </c:ser>
        <c:dLbls>
          <c:showLegendKey val="0"/>
          <c:showVal val="0"/>
          <c:showCatName val="0"/>
          <c:showSerName val="0"/>
          <c:showPercent val="0"/>
          <c:showBubbleSize val="0"/>
        </c:dLbls>
        <c:marker val="1"/>
        <c:smooth val="0"/>
        <c:axId val="711111488"/>
        <c:axId val="434414479"/>
      </c:lineChart>
      <c:catAx>
        <c:axId val="711111488"/>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434414479"/>
        <c:crosses val="autoZero"/>
        <c:auto val="1"/>
        <c:lblAlgn val="ctr"/>
        <c:lblOffset val="100"/>
        <c:noMultiLvlLbl val="0"/>
      </c:catAx>
      <c:valAx>
        <c:axId val="43441447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7111114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table!PivotTable13</c:name>
    <c:fmtId val="11"/>
  </c:pivotSource>
  <c:chart>
    <c:title>
      <c:tx>
        <c:rich>
          <a:bodyPr rot="0" spcFirstLastPara="1" vertOverflow="ellipsis" vert="horz" wrap="square" anchor="ctr" anchorCtr="1"/>
          <a:lstStyle/>
          <a:p>
            <a:pPr>
              <a:defRPr sz="1400" b="1" i="0" u="none" strike="noStrike" kern="1200" spc="0" baseline="0">
                <a:solidFill>
                  <a:schemeClr val="dk1"/>
                </a:solidFill>
                <a:latin typeface="+mn-lt"/>
                <a:ea typeface="+mn-ea"/>
                <a:cs typeface="+mn-cs"/>
              </a:defRPr>
            </a:pPr>
            <a:r>
              <a:rPr lang="en-US" b="1"/>
              <a:t>SALES BY PAYMENT METHOD</a:t>
            </a:r>
          </a:p>
        </c:rich>
      </c:tx>
      <c:layout>
        <c:manualLayout>
          <c:xMode val="edge"/>
          <c:yMode val="edge"/>
          <c:x val="0.28475306682026835"/>
          <c:y val="7.117562068226947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dk1"/>
              </a:solidFill>
              <a:latin typeface="+mn-lt"/>
              <a:ea typeface="+mn-ea"/>
              <a:cs typeface="+mn-cs"/>
            </a:defRPr>
          </a:pPr>
          <a:endParaRPr lang="en-US"/>
        </a:p>
      </c:txPr>
    </c:title>
    <c:autoTitleDeleted val="0"/>
    <c:pivotFmts>
      <c:pivotFmt>
        <c:idx val="0"/>
        <c:spPr>
          <a:solidFill>
            <a:schemeClr val="accent6"/>
          </a:solidFill>
          <a:ln w="28575" cap="rnd">
            <a:solidFill>
              <a:schemeClr val="accent6"/>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w="28575" cap="rnd">
            <a:solidFill>
              <a:schemeClr val="accent6"/>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w="28575" cap="rnd">
            <a:solidFill>
              <a:schemeClr val="accent6"/>
            </a:solidFill>
            <a:round/>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w="28575" cap="rnd">
            <a:solidFill>
              <a:schemeClr val="accent6"/>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w="28575" cap="rnd">
            <a:solidFill>
              <a:schemeClr val="accent6"/>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table'!$B$112</c:f>
              <c:strCache>
                <c:ptCount val="1"/>
                <c:pt idx="0">
                  <c:v>Total</c:v>
                </c:pt>
              </c:strCache>
            </c:strRef>
          </c:tx>
          <c:spPr>
            <a:ln w="28575" cap="rnd">
              <a:solidFill>
                <a:schemeClr val="accent6"/>
              </a:solidFill>
              <a:round/>
            </a:ln>
            <a:effectLst/>
          </c:spPr>
          <c:marker>
            <c:symbol val="none"/>
          </c:marker>
          <c:cat>
            <c:strRef>
              <c:f>'pivot table'!$A$113:$A$119</c:f>
              <c:strCache>
                <c:ptCount val="6"/>
                <c:pt idx="0">
                  <c:v>Card</c:v>
                </c:pt>
                <c:pt idx="1">
                  <c:v>Cash</c:v>
                </c:pt>
                <c:pt idx="2">
                  <c:v>Google Pay</c:v>
                </c:pt>
                <c:pt idx="3">
                  <c:v>GooglePay</c:v>
                </c:pt>
                <c:pt idx="4">
                  <c:v>PhonePe</c:v>
                </c:pt>
                <c:pt idx="5">
                  <c:v>UPI</c:v>
                </c:pt>
              </c:strCache>
            </c:strRef>
          </c:cat>
          <c:val>
            <c:numRef>
              <c:f>'pivot table'!$B$113:$B$119</c:f>
              <c:numCache>
                <c:formatCode>0.00</c:formatCode>
                <c:ptCount val="6"/>
                <c:pt idx="0">
                  <c:v>36038.589999999997</c:v>
                </c:pt>
                <c:pt idx="1">
                  <c:v>46189.409999999989</c:v>
                </c:pt>
                <c:pt idx="2">
                  <c:v>72252.569999999992</c:v>
                </c:pt>
                <c:pt idx="3">
                  <c:v>7220.7</c:v>
                </c:pt>
                <c:pt idx="4">
                  <c:v>48466.349999999984</c:v>
                </c:pt>
                <c:pt idx="5">
                  <c:v>83520.860000000044</c:v>
                </c:pt>
              </c:numCache>
            </c:numRef>
          </c:val>
          <c:smooth val="0"/>
          <c:extLst>
            <c:ext xmlns:c16="http://schemas.microsoft.com/office/drawing/2014/chart" uri="{C3380CC4-5D6E-409C-BE32-E72D297353CC}">
              <c16:uniqueId val="{00000000-4C49-4E2E-879B-C3BD2C9B9405}"/>
            </c:ext>
          </c:extLst>
        </c:ser>
        <c:dLbls>
          <c:showLegendKey val="0"/>
          <c:showVal val="0"/>
          <c:showCatName val="0"/>
          <c:showSerName val="0"/>
          <c:showPercent val="0"/>
          <c:showBubbleSize val="0"/>
        </c:dLbls>
        <c:smooth val="0"/>
        <c:axId val="330765519"/>
        <c:axId val="434504719"/>
      </c:lineChart>
      <c:catAx>
        <c:axId val="3307655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434504719"/>
        <c:crosses val="autoZero"/>
        <c:auto val="1"/>
        <c:lblAlgn val="ctr"/>
        <c:lblOffset val="100"/>
        <c:noMultiLvlLbl val="0"/>
      </c:catAx>
      <c:valAx>
        <c:axId val="43450471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33076551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table!PivotTable17</c:name>
    <c:fmtId val="14"/>
  </c:pivotSource>
  <c:chart>
    <c:title>
      <c:tx>
        <c:rich>
          <a:bodyPr rot="0" spcFirstLastPara="1" vertOverflow="ellipsis" vert="horz" wrap="square" anchor="ctr" anchorCtr="1"/>
          <a:lstStyle/>
          <a:p>
            <a:pPr>
              <a:defRPr sz="1400" b="1" i="0" u="none" strike="noStrike" kern="1200" spc="0" baseline="0">
                <a:solidFill>
                  <a:schemeClr val="dk1"/>
                </a:solidFill>
                <a:latin typeface="+mn-lt"/>
                <a:ea typeface="+mn-ea"/>
                <a:cs typeface="+mn-cs"/>
              </a:defRPr>
            </a:pPr>
            <a:r>
              <a:rPr lang="en-US" b="1">
                <a:solidFill>
                  <a:sysClr val="windowText" lastClr="000000"/>
                </a:solidFill>
              </a:rPr>
              <a:t>BUSIEST</a:t>
            </a:r>
            <a:r>
              <a:rPr lang="en-US" b="1" baseline="0">
                <a:solidFill>
                  <a:sysClr val="windowText" lastClr="000000"/>
                </a:solidFill>
              </a:rPr>
              <a:t> HOURSOF THE DAY</a:t>
            </a:r>
            <a:r>
              <a:rPr lang="en-US" b="1">
                <a:solidFill>
                  <a:sysClr val="windowText" lastClr="000000"/>
                </a:solidFill>
              </a:rPr>
              <a:t>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dk1"/>
              </a:solidFill>
              <a:latin typeface="+mn-lt"/>
              <a:ea typeface="+mn-ea"/>
              <a:cs typeface="+mn-cs"/>
            </a:defRPr>
          </a:pPr>
          <a:endParaRPr lang="en-US"/>
        </a:p>
      </c:txPr>
    </c:title>
    <c:autoTitleDeleted val="0"/>
    <c:pivotFmts>
      <c:pivotFmt>
        <c:idx val="0"/>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table'!$B$140</c:f>
              <c:strCache>
                <c:ptCount val="1"/>
                <c:pt idx="0">
                  <c:v>Total</c:v>
                </c:pt>
              </c:strCache>
            </c:strRef>
          </c:tx>
          <c:spPr>
            <a:solidFill>
              <a:schemeClr val="accent6"/>
            </a:solidFill>
            <a:ln>
              <a:noFill/>
            </a:ln>
            <a:effectLst/>
          </c:spPr>
          <c:invertIfNegative val="0"/>
          <c:cat>
            <c:strRef>
              <c:f>'pivot table'!$A$141:$A$156</c:f>
              <c:strCache>
                <c:ptCount val="15"/>
                <c:pt idx="0">
                  <c:v>07</c:v>
                </c:pt>
                <c:pt idx="1">
                  <c:v>08</c:v>
                </c:pt>
                <c:pt idx="2">
                  <c:v>09</c:v>
                </c:pt>
                <c:pt idx="3">
                  <c:v>10</c:v>
                </c:pt>
                <c:pt idx="4">
                  <c:v>11</c:v>
                </c:pt>
                <c:pt idx="5">
                  <c:v>12</c:v>
                </c:pt>
                <c:pt idx="6">
                  <c:v>13</c:v>
                </c:pt>
                <c:pt idx="7">
                  <c:v>14</c:v>
                </c:pt>
                <c:pt idx="8">
                  <c:v>15</c:v>
                </c:pt>
                <c:pt idx="9">
                  <c:v>16</c:v>
                </c:pt>
                <c:pt idx="10">
                  <c:v>17</c:v>
                </c:pt>
                <c:pt idx="11">
                  <c:v>18</c:v>
                </c:pt>
                <c:pt idx="12">
                  <c:v>19</c:v>
                </c:pt>
                <c:pt idx="13">
                  <c:v>20</c:v>
                </c:pt>
                <c:pt idx="14">
                  <c:v>21</c:v>
                </c:pt>
              </c:strCache>
            </c:strRef>
          </c:cat>
          <c:val>
            <c:numRef>
              <c:f>'pivot table'!$B$141:$B$156</c:f>
              <c:numCache>
                <c:formatCode>General</c:formatCode>
                <c:ptCount val="15"/>
                <c:pt idx="0">
                  <c:v>76</c:v>
                </c:pt>
                <c:pt idx="1">
                  <c:v>104</c:v>
                </c:pt>
                <c:pt idx="2">
                  <c:v>94</c:v>
                </c:pt>
                <c:pt idx="3">
                  <c:v>83</c:v>
                </c:pt>
                <c:pt idx="4">
                  <c:v>48</c:v>
                </c:pt>
                <c:pt idx="5">
                  <c:v>34</c:v>
                </c:pt>
                <c:pt idx="6">
                  <c:v>31</c:v>
                </c:pt>
                <c:pt idx="7">
                  <c:v>27</c:v>
                </c:pt>
                <c:pt idx="8">
                  <c:v>18</c:v>
                </c:pt>
                <c:pt idx="9">
                  <c:v>33</c:v>
                </c:pt>
                <c:pt idx="10">
                  <c:v>52</c:v>
                </c:pt>
                <c:pt idx="11">
                  <c:v>65</c:v>
                </c:pt>
                <c:pt idx="12">
                  <c:v>71</c:v>
                </c:pt>
                <c:pt idx="13">
                  <c:v>45</c:v>
                </c:pt>
                <c:pt idx="14">
                  <c:v>19</c:v>
                </c:pt>
              </c:numCache>
            </c:numRef>
          </c:val>
          <c:extLst>
            <c:ext xmlns:c16="http://schemas.microsoft.com/office/drawing/2014/chart" uri="{C3380CC4-5D6E-409C-BE32-E72D297353CC}">
              <c16:uniqueId val="{00000000-33AE-462C-A0D4-2C4C979FB48B}"/>
            </c:ext>
          </c:extLst>
        </c:ser>
        <c:dLbls>
          <c:showLegendKey val="0"/>
          <c:showVal val="0"/>
          <c:showCatName val="0"/>
          <c:showSerName val="0"/>
          <c:showPercent val="0"/>
          <c:showBubbleSize val="0"/>
        </c:dLbls>
        <c:gapWidth val="219"/>
        <c:overlap val="-27"/>
        <c:axId val="981966656"/>
        <c:axId val="1161515760"/>
      </c:barChart>
      <c:catAx>
        <c:axId val="981966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161515760"/>
        <c:crosses val="autoZero"/>
        <c:auto val="1"/>
        <c:lblAlgn val="ctr"/>
        <c:lblOffset val="100"/>
        <c:noMultiLvlLbl val="0"/>
      </c:catAx>
      <c:valAx>
        <c:axId val="1161515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981966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table!PivotTable15</c:name>
    <c:fmtId val="12"/>
  </c:pivotSource>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US" b="1"/>
              <a:t>REVENUE</a:t>
            </a:r>
            <a:r>
              <a:rPr lang="en-US" b="1" baseline="0"/>
              <a:t> BY PROMOTION</a:t>
            </a:r>
            <a:r>
              <a:rPr lang="en-US" b="1"/>
              <a:t>l</a:t>
            </a:r>
          </a:p>
        </c:rich>
      </c:tx>
      <c:layout>
        <c:manualLayout>
          <c:xMode val="edge"/>
          <c:yMode val="edge"/>
          <c:x val="0.20294932382122446"/>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table'!$B$122</c:f>
              <c:strCache>
                <c:ptCount val="1"/>
                <c:pt idx="0">
                  <c:v>Total</c:v>
                </c:pt>
              </c:strCache>
            </c:strRef>
          </c:tx>
          <c:spPr>
            <a:solidFill>
              <a:schemeClr val="accent6"/>
            </a:solidFill>
            <a:ln>
              <a:noFill/>
            </a:ln>
            <a:effectLst/>
          </c:spPr>
          <c:invertIfNegative val="0"/>
          <c:cat>
            <c:strRef>
              <c:f>'pivot table'!$A$123:$A$129</c:f>
              <c:strCache>
                <c:ptCount val="6"/>
                <c:pt idx="0">
                  <c:v>Loyalty Rewards</c:v>
                </c:pt>
                <c:pt idx="1">
                  <c:v>Morning Brew Offer</c:v>
                </c:pt>
                <c:pt idx="2">
                  <c:v>No Promotion</c:v>
                </c:pt>
                <c:pt idx="3">
                  <c:v>Student Combo</c:v>
                </c:pt>
                <c:pt idx="4">
                  <c:v>Summer Chillers</c:v>
                </c:pt>
                <c:pt idx="5">
                  <c:v>Weekend Family Combo</c:v>
                </c:pt>
              </c:strCache>
            </c:strRef>
          </c:cat>
          <c:val>
            <c:numRef>
              <c:f>'pivot table'!$B$123:$B$129</c:f>
              <c:numCache>
                <c:formatCode>0.00</c:formatCode>
                <c:ptCount val="6"/>
                <c:pt idx="0">
                  <c:v>45040.769999999982</c:v>
                </c:pt>
                <c:pt idx="1">
                  <c:v>45634.189999999981</c:v>
                </c:pt>
                <c:pt idx="2">
                  <c:v>41706.379999999997</c:v>
                </c:pt>
                <c:pt idx="3">
                  <c:v>48879.94000000001</c:v>
                </c:pt>
                <c:pt idx="4">
                  <c:v>56952.37</c:v>
                </c:pt>
                <c:pt idx="5">
                  <c:v>55474.83</c:v>
                </c:pt>
              </c:numCache>
            </c:numRef>
          </c:val>
          <c:extLst>
            <c:ext xmlns:c16="http://schemas.microsoft.com/office/drawing/2014/chart" uri="{C3380CC4-5D6E-409C-BE32-E72D297353CC}">
              <c16:uniqueId val="{00000000-6B35-4440-9396-8A6AA01DAD53}"/>
            </c:ext>
          </c:extLst>
        </c:ser>
        <c:dLbls>
          <c:showLegendKey val="0"/>
          <c:showVal val="0"/>
          <c:showCatName val="0"/>
          <c:showSerName val="0"/>
          <c:showPercent val="0"/>
          <c:showBubbleSize val="0"/>
        </c:dLbls>
        <c:gapWidth val="219"/>
        <c:overlap val="-27"/>
        <c:axId val="1182022240"/>
        <c:axId val="1170386864"/>
      </c:barChart>
      <c:catAx>
        <c:axId val="1182022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170386864"/>
        <c:crosses val="autoZero"/>
        <c:auto val="1"/>
        <c:lblAlgn val="ctr"/>
        <c:lblOffset val="100"/>
        <c:noMultiLvlLbl val="0"/>
      </c:catAx>
      <c:valAx>
        <c:axId val="117038686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1820222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table!PivotTable10</c:name>
    <c:fmtId val="18"/>
  </c:pivotSource>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US" b="1">
                <a:solidFill>
                  <a:schemeClr val="tx1"/>
                </a:solidFill>
              </a:rPr>
              <a:t>TOP</a:t>
            </a:r>
            <a:r>
              <a:rPr lang="en-US" b="1" baseline="0">
                <a:solidFill>
                  <a:schemeClr val="tx1"/>
                </a:solidFill>
              </a:rPr>
              <a:t> 10 PRODUCT BY RATING</a:t>
            </a:r>
            <a:endParaRPr lang="en-US" b="1">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table'!$D$240</c:f>
              <c:strCache>
                <c:ptCount val="1"/>
                <c:pt idx="0">
                  <c:v>Total</c:v>
                </c:pt>
              </c:strCache>
            </c:strRef>
          </c:tx>
          <c:spPr>
            <a:solidFill>
              <a:schemeClr val="accent6"/>
            </a:solidFill>
            <a:ln>
              <a:noFill/>
            </a:ln>
            <a:effectLst/>
          </c:spPr>
          <c:invertIfNegative val="0"/>
          <c:cat>
            <c:strRef>
              <c:f>'pivot table'!$C$241:$C$251</c:f>
              <c:strCache>
                <c:ptCount val="10"/>
                <c:pt idx="0">
                  <c:v>Chocolate Pastry</c:v>
                </c:pt>
                <c:pt idx="1">
                  <c:v>Americano</c:v>
                </c:pt>
                <c:pt idx="2">
                  <c:v>Hot Chocolate</c:v>
                </c:pt>
                <c:pt idx="3">
                  <c:v>Hazelnut Latte</c:v>
                </c:pt>
                <c:pt idx="4">
                  <c:v>Iced Lemon Tea</c:v>
                </c:pt>
                <c:pt idx="5">
                  <c:v>Mineral Water</c:v>
                </c:pt>
                <c:pt idx="6">
                  <c:v>Mocha</c:v>
                </c:pt>
                <c:pt idx="7">
                  <c:v>Brownie</c:v>
                </c:pt>
                <c:pt idx="8">
                  <c:v>Watermelon Juice</c:v>
                </c:pt>
                <c:pt idx="9">
                  <c:v>Cold Brew</c:v>
                </c:pt>
              </c:strCache>
            </c:strRef>
          </c:cat>
          <c:val>
            <c:numRef>
              <c:f>'pivot table'!$D$241:$D$251</c:f>
              <c:numCache>
                <c:formatCode>General</c:formatCode>
                <c:ptCount val="10"/>
                <c:pt idx="0">
                  <c:v>4.0999999999999996</c:v>
                </c:pt>
                <c:pt idx="1">
                  <c:v>4.0999999999999996</c:v>
                </c:pt>
                <c:pt idx="2">
                  <c:v>4.1034482758620694</c:v>
                </c:pt>
                <c:pt idx="3">
                  <c:v>4.166666666666667</c:v>
                </c:pt>
                <c:pt idx="4">
                  <c:v>4.166666666666667</c:v>
                </c:pt>
                <c:pt idx="5">
                  <c:v>4.166666666666667</c:v>
                </c:pt>
                <c:pt idx="6">
                  <c:v>4.2</c:v>
                </c:pt>
                <c:pt idx="7">
                  <c:v>4.2142857142857144</c:v>
                </c:pt>
                <c:pt idx="8">
                  <c:v>4.2727272727272725</c:v>
                </c:pt>
                <c:pt idx="9">
                  <c:v>4.3076923076923075</c:v>
                </c:pt>
              </c:numCache>
            </c:numRef>
          </c:val>
          <c:extLst>
            <c:ext xmlns:c16="http://schemas.microsoft.com/office/drawing/2014/chart" uri="{C3380CC4-5D6E-409C-BE32-E72D297353CC}">
              <c16:uniqueId val="{00000000-A60F-4E1B-BB48-AAEFF721AA07}"/>
            </c:ext>
          </c:extLst>
        </c:ser>
        <c:dLbls>
          <c:showLegendKey val="0"/>
          <c:showVal val="0"/>
          <c:showCatName val="0"/>
          <c:showSerName val="0"/>
          <c:showPercent val="0"/>
          <c:showBubbleSize val="0"/>
        </c:dLbls>
        <c:gapWidth val="219"/>
        <c:overlap val="-27"/>
        <c:axId val="1049991680"/>
        <c:axId val="974569968"/>
      </c:barChart>
      <c:catAx>
        <c:axId val="1049991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974569968"/>
        <c:crosses val="autoZero"/>
        <c:auto val="1"/>
        <c:lblAlgn val="ctr"/>
        <c:lblOffset val="100"/>
        <c:noMultiLvlLbl val="0"/>
      </c:catAx>
      <c:valAx>
        <c:axId val="974569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0499916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final task.xlsx]pivot table!PivotTable14</c:name>
    <c:fmtId val="10"/>
  </c:pivotSource>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US" b="1">
                <a:solidFill>
                  <a:schemeClr val="tx1"/>
                </a:solidFill>
              </a:rPr>
              <a:t>TOP</a:t>
            </a:r>
            <a:r>
              <a:rPr lang="en-US" b="1" baseline="0">
                <a:solidFill>
                  <a:schemeClr val="tx1"/>
                </a:solidFill>
              </a:rPr>
              <a:t> 10 PRODUCT  BY QUANTITY</a:t>
            </a:r>
            <a:endParaRPr lang="en-US" b="1">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table'!$C$259</c:f>
              <c:strCache>
                <c:ptCount val="1"/>
                <c:pt idx="0">
                  <c:v>Total</c:v>
                </c:pt>
              </c:strCache>
            </c:strRef>
          </c:tx>
          <c:spPr>
            <a:solidFill>
              <a:schemeClr val="accent6"/>
            </a:solidFill>
            <a:ln>
              <a:noFill/>
            </a:ln>
            <a:effectLst/>
          </c:spPr>
          <c:invertIfNegative val="0"/>
          <c:cat>
            <c:strRef>
              <c:f>'pivot table'!$B$260:$B$270</c:f>
              <c:strCache>
                <c:ptCount val="10"/>
                <c:pt idx="0">
                  <c:v>Americano</c:v>
                </c:pt>
                <c:pt idx="1">
                  <c:v>Cappuccino</c:v>
                </c:pt>
                <c:pt idx="2">
                  <c:v>Caramel Frappé</c:v>
                </c:pt>
                <c:pt idx="3">
                  <c:v>Espresso</c:v>
                </c:pt>
                <c:pt idx="4">
                  <c:v>Hot Chocolate</c:v>
                </c:pt>
                <c:pt idx="5">
                  <c:v>Latte</c:v>
                </c:pt>
                <c:pt idx="6">
                  <c:v>Lemon Tea</c:v>
                </c:pt>
                <c:pt idx="7">
                  <c:v>Mocha</c:v>
                </c:pt>
                <c:pt idx="8">
                  <c:v>Oat Cookie</c:v>
                </c:pt>
                <c:pt idx="9">
                  <c:v>Paneer Wrap</c:v>
                </c:pt>
              </c:strCache>
            </c:strRef>
          </c:cat>
          <c:val>
            <c:numRef>
              <c:f>'pivot table'!$C$260:$C$270</c:f>
              <c:numCache>
                <c:formatCode>General</c:formatCode>
                <c:ptCount val="10"/>
                <c:pt idx="0">
                  <c:v>75</c:v>
                </c:pt>
                <c:pt idx="1">
                  <c:v>101</c:v>
                </c:pt>
                <c:pt idx="2">
                  <c:v>64</c:v>
                </c:pt>
                <c:pt idx="3">
                  <c:v>75</c:v>
                </c:pt>
                <c:pt idx="4">
                  <c:v>72</c:v>
                </c:pt>
                <c:pt idx="5">
                  <c:v>66</c:v>
                </c:pt>
                <c:pt idx="6">
                  <c:v>70</c:v>
                </c:pt>
                <c:pt idx="7">
                  <c:v>97</c:v>
                </c:pt>
                <c:pt idx="8">
                  <c:v>60</c:v>
                </c:pt>
                <c:pt idx="9">
                  <c:v>59</c:v>
                </c:pt>
              </c:numCache>
            </c:numRef>
          </c:val>
          <c:extLst>
            <c:ext xmlns:c16="http://schemas.microsoft.com/office/drawing/2014/chart" uri="{C3380CC4-5D6E-409C-BE32-E72D297353CC}">
              <c16:uniqueId val="{00000000-A267-4F33-9B8E-6D4B50A4ECB6}"/>
            </c:ext>
          </c:extLst>
        </c:ser>
        <c:dLbls>
          <c:showLegendKey val="0"/>
          <c:showVal val="0"/>
          <c:showCatName val="0"/>
          <c:showSerName val="0"/>
          <c:showPercent val="0"/>
          <c:showBubbleSize val="0"/>
        </c:dLbls>
        <c:gapWidth val="219"/>
        <c:overlap val="-27"/>
        <c:axId val="1075035104"/>
        <c:axId val="1170233264"/>
      </c:barChart>
      <c:catAx>
        <c:axId val="1075035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170233264"/>
        <c:crosses val="autoZero"/>
        <c:auto val="1"/>
        <c:lblAlgn val="ctr"/>
        <c:lblOffset val="100"/>
        <c:noMultiLvlLbl val="0"/>
      </c:catAx>
      <c:valAx>
        <c:axId val="1170233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0750351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rotWithShape="1">
      <a:gsLst>
        <a:gs pos="0">
          <a:schemeClr val="accent6">
            <a:tint val="64000"/>
            <a:lumMod val="118000"/>
          </a:schemeClr>
        </a:gs>
        <a:gs pos="100000">
          <a:schemeClr val="accent6">
            <a:tint val="92000"/>
            <a:alpha val="100000"/>
            <a:lumMod val="110000"/>
          </a:schemeClr>
        </a:gs>
      </a:gsLst>
      <a:lin ang="5400000" scaled="0"/>
    </a:gradFill>
    <a:ln w="9525" cap="rnd" cmpd="sng" algn="ctr">
      <a:solidFill>
        <a:schemeClr val="accent6"/>
      </a:solidFill>
      <a:prstDash val="solid"/>
      <a:round/>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1566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 30 to 40 seconds</a:t>
            </a:r>
          </a:p>
          <a:p>
            <a:r>
              <a:t>“Good morning. This presentation covers the BrewBean Coffee Shop Sales Analytics project. The objective is to use the sales data to understand revenue trends, outlet performance, customer behaviour and product profitability, and then convert those findings into practical business recommendations. I will first show the overall performance, then revenue and operations, promotions and customer behaviour, and finally the actions I recommend.”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Executive snapshot — about 45 seconds</a:t>
            </a:r>
          </a:p>
          <a:p>
            <a:r>
              <a:t>“From the dashboard, total sales are 293,688.48 across 800 transactions, with total profit of 175,869.48. The average customer rating is 3.99. So the business is generating healthy sales and profit, but there is still an opportunity to improve customer satisfaction. Monthly sales are relatively stable, with March looking strongest and June weakest in the visible period. The main management opportunity is to understand why some outlets, promotions and time periods perform better than others.”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Revenue and outlet performance — about 50 seconds</a:t>
            </a:r>
          </a:p>
          <a:p>
            <a:r>
              <a:t>“Here I am comparing revenue and profit by outlet. The outlets are not identical in performance: one outlet is visibly ahead on revenue, while a few are lower. The profit chart shows a similar spread. The business should therefore not use one standard approach for every store. I recommend taking the strongest outlet as a benchmark and comparing staffing, product mix, promotions and daily operations with the weaker outlets.”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Sales trend and category mix — about 45 seconds</a:t>
            </a:r>
          </a:p>
          <a:p>
            <a:r>
              <a:t>“The monthly chart shows a fairly consistent sales pattern from January to June. March is the highest visible month and June is the lowest. The category chart also shows that revenue is not evenly distributed across categories. So I would investigate what changed in June — for example product demand or promotional activity — and use the strongest category mix from better-performing months as a benchmark.”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Customer behaviour and operations — about 50 seconds</a:t>
            </a:r>
          </a:p>
          <a:p>
            <a:r>
              <a:t>“The payment chart shows UPI as the strongest visible payment method by revenue, which means digital payment convenience should be maintained. The busiest-hours chart shows two clear demand windows: around 8 to 10 in the morning and again around 6 to 8 in the evening. This is operationally important. BrewBean can reduce congestion by placing more staff and preparing fast-moving items before these peak periods.”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Promotions, products and satisfaction — about 55 seconds</a:t>
            </a:r>
          </a:p>
          <a:p>
            <a:r>
              <a:t>“The promotion chart shows Summer as the strongest visible campaign, with Weekly and Student also performing strongly. On customer ratings, the top products are around the 4.1 to 4.4 range, while the overall average is 3.99. The quantity chart shows that some products sell much more than others. Therefore, BrewBean should keep high-demand products available during peak hours and use the best-performing promotions selectively rather than discounting everything.”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questions — about 55 seconds</a:t>
            </a:r>
          </a:p>
          <a:p>
            <a:r>
              <a:t>“This slide maps the dashboard directly to the client’s business questions. We can answer the outlet performance, product demand, busiest hours, promotions, payment method and product rating questions from the current visuals. One point needs to be stated carefully: the current dashboard has Membership as a slicer, but it does not show revenue by membership segment, so I would not claim which customer segment contributes the most revenue without an additional analysis.”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Recommendations — about 60 seconds</a:t>
            </a:r>
          </a:p>
          <a:p>
            <a:r>
              <a:t>“My recommendations are fivefold. First, staff around the two peak windows and prepare fast-moving products in advance. Second, focus promotions on campaigns that visibly generate stronger revenue, especially Summer, while monitoring return on promotion. Third, benchmark weaker outlets against the strongest outlet. Fourth, protect stock availability for high-volume products. Fifth, improve customer experience from the current 3.99 rating baseline. These recommendations are directly linked to the patterns shown in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 20 to 30 seconds</a:t>
            </a:r>
          </a:p>
          <a:p>
            <a:r>
              <a:t>“To conclude, the dashboard gives BrewBean a practical basis for improving both sales and operations. The immediate priorities are peak-hour capacity, stronger promotions, product availability, outlet benchmarking and customer experience. Thank you. I’m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chart" Target="../charts/chart9.xml"/><Relationship Id="rId4" Type="http://schemas.openxmlformats.org/officeDocument/2006/relationships/chart" Target="../charts/char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1143000"/>
            <a:ext cx="1097280" cy="4389120"/>
          </a:xfrm>
          <a:prstGeom prst="roundRect">
            <a:avLst/>
          </a:prstGeom>
          <a:solidFill>
            <a:srgbClr val="F1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65960" y="1417320"/>
            <a:ext cx="9326880" cy="1143000"/>
          </a:xfrm>
          <a:prstGeom prst="rect">
            <a:avLst/>
          </a:prstGeom>
          <a:noFill/>
        </p:spPr>
        <p:txBody>
          <a:bodyPr wrap="none">
            <a:spAutoFit/>
          </a:bodyPr>
          <a:lstStyle/>
          <a:p>
            <a:pPr>
              <a:defRPr sz="3100" b="1">
                <a:solidFill>
                  <a:srgbClr val="412D22"/>
                </a:solidFill>
                <a:latin typeface="Aptos Display"/>
              </a:defRPr>
            </a:pPr>
            <a:r>
              <a:t>BREWBEAN SALES</a:t>
            </a:r>
            <a:br/>
            <a:r>
              <a:t>PERFORMANCE ANALYSIS</a:t>
            </a:r>
          </a:p>
        </p:txBody>
      </p:sp>
      <p:sp>
        <p:nvSpPr>
          <p:cNvPr id="5" name="TextBox 4"/>
          <p:cNvSpPr txBox="1"/>
          <p:nvPr/>
        </p:nvSpPr>
        <p:spPr>
          <a:xfrm>
            <a:off x="1993392" y="2834640"/>
            <a:ext cx="8778240" cy="731520"/>
          </a:xfrm>
          <a:prstGeom prst="rect">
            <a:avLst/>
          </a:prstGeom>
          <a:noFill/>
        </p:spPr>
        <p:txBody>
          <a:bodyPr wrap="none">
            <a:spAutoFit/>
          </a:bodyPr>
          <a:lstStyle/>
          <a:p>
            <a:pPr>
              <a:defRPr sz="2000">
                <a:solidFill>
                  <a:srgbClr val="71482D"/>
                </a:solidFill>
                <a:latin typeface="Aptos"/>
              </a:defRPr>
            </a:pPr>
            <a:r>
              <a:t>Client Stakeholder Presentation</a:t>
            </a:r>
          </a:p>
          <a:p>
            <a:pPr>
              <a:defRPr sz="1300">
                <a:solidFill>
                  <a:srgbClr val="665E58"/>
                </a:solidFill>
              </a:defRPr>
            </a:pPr>
            <a:r>
              <a:t>Coffee Sales &amp; Business Insights</a:t>
            </a:r>
          </a:p>
        </p:txBody>
      </p:sp>
      <p:sp>
        <p:nvSpPr>
          <p:cNvPr id="6" name="Rounded Rectangle 5"/>
          <p:cNvSpPr/>
          <p:nvPr/>
        </p:nvSpPr>
        <p:spPr>
          <a:xfrm>
            <a:off x="1965960" y="3977639"/>
            <a:ext cx="6400800" cy="123444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Project context</a:t>
            </a:r>
          </a:p>
          <a:p>
            <a:pPr>
              <a:spcBef>
                <a:spcPts val="500"/>
              </a:spcBef>
              <a:defRPr sz="1100">
                <a:solidFill>
                  <a:srgbClr val="412D22"/>
                </a:solidFill>
                <a:latin typeface="Aptos"/>
              </a:defRPr>
            </a:pPr>
            <a:r>
              <a:t>Client: BrewBean Café Pvt. Ltd.</a:t>
            </a:r>
          </a:p>
          <a:p>
            <a:pPr>
              <a:spcBef>
                <a:spcPts val="500"/>
              </a:spcBef>
              <a:defRPr sz="1100">
                <a:solidFill>
                  <a:srgbClr val="412D22"/>
                </a:solidFill>
                <a:latin typeface="Aptos"/>
              </a:defRPr>
            </a:pPr>
            <a:r>
              <a:t>Stakeholder: Regional Operations Manager</a:t>
            </a:r>
          </a:p>
          <a:p>
            <a:pPr>
              <a:spcBef>
                <a:spcPts val="500"/>
              </a:spcBef>
              <a:defRPr sz="1100">
                <a:solidFill>
                  <a:srgbClr val="412D22"/>
                </a:solidFill>
                <a:latin typeface="Aptos"/>
              </a:defRPr>
            </a:pPr>
            <a:r>
              <a:t>Role: Business Analyst  |  Project ID: BA-2026-003</a:t>
            </a:r>
          </a:p>
        </p:txBody>
      </p:sp>
      <p:sp>
        <p:nvSpPr>
          <p:cNvPr id="7" name="TextBox 6"/>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rPr dirty="0"/>
              <a:t>1. Executive S</a:t>
            </a:r>
            <a:r>
              <a:rPr lang="en-IN" dirty="0" err="1"/>
              <a:t>napshot</a:t>
            </a:r>
            <a:endParaRPr dirty="0"/>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t>The dashboard gives a quick view of sales scale, profitability and customer experience.</a:t>
            </a:r>
          </a:p>
        </p:txBody>
      </p:sp>
      <p:sp>
        <p:nvSpPr>
          <p:cNvPr id="5" name="Rounded Rectangle 4"/>
          <p:cNvSpPr/>
          <p:nvPr/>
        </p:nvSpPr>
        <p:spPr>
          <a:xfrm>
            <a:off x="640080" y="1325880"/>
            <a:ext cx="2514600" cy="1234440"/>
          </a:xfrm>
          <a:prstGeom prst="roundRect">
            <a:avLst/>
          </a:prstGeom>
          <a:solidFill>
            <a:srgbClr val="FFFFFF"/>
          </a:solidFill>
          <a:ln>
            <a:solidFill>
              <a:srgbClr val="E0CD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65E58"/>
                </a:solidFill>
                <a:latin typeface="Aptos"/>
              </a:defRPr>
            </a:pPr>
            <a:r>
              <a:t>TOTAL SALES</a:t>
            </a:r>
          </a:p>
          <a:p>
            <a:pPr algn="ctr">
              <a:defRPr sz="2200" b="1">
                <a:solidFill>
                  <a:srgbClr val="71482D"/>
                </a:solidFill>
                <a:latin typeface="Aptos Display"/>
              </a:defRPr>
            </a:pPr>
            <a:r>
              <a:t>293,688.48</a:t>
            </a:r>
          </a:p>
          <a:p>
            <a:pPr algn="ctr">
              <a:defRPr sz="800">
                <a:solidFill>
                  <a:srgbClr val="665E58"/>
                </a:solidFill>
                <a:latin typeface="Aptos"/>
              </a:defRPr>
            </a:pPr>
            <a:r>
              <a:t>Overall revenue</a:t>
            </a:r>
          </a:p>
        </p:txBody>
      </p:sp>
      <p:sp>
        <p:nvSpPr>
          <p:cNvPr id="6" name="Rounded Rectangle 5"/>
          <p:cNvSpPr/>
          <p:nvPr/>
        </p:nvSpPr>
        <p:spPr>
          <a:xfrm>
            <a:off x="3337560" y="1325880"/>
            <a:ext cx="2514600" cy="1234440"/>
          </a:xfrm>
          <a:prstGeom prst="roundRect">
            <a:avLst/>
          </a:prstGeom>
          <a:solidFill>
            <a:srgbClr val="FFFFFF"/>
          </a:solidFill>
          <a:ln>
            <a:solidFill>
              <a:srgbClr val="E0CD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65E58"/>
                </a:solidFill>
                <a:latin typeface="Aptos"/>
              </a:defRPr>
            </a:pPr>
            <a:r>
              <a:t>TRANSACTIONS</a:t>
            </a:r>
          </a:p>
          <a:p>
            <a:pPr algn="ctr">
              <a:defRPr sz="2200" b="1">
                <a:solidFill>
                  <a:srgbClr val="71482D"/>
                </a:solidFill>
                <a:latin typeface="Aptos Display"/>
              </a:defRPr>
            </a:pPr>
            <a:r>
              <a:t>800</a:t>
            </a:r>
          </a:p>
          <a:p>
            <a:pPr algn="ctr">
              <a:defRPr sz="800">
                <a:solidFill>
                  <a:srgbClr val="665E58"/>
                </a:solidFill>
                <a:latin typeface="Aptos"/>
              </a:defRPr>
            </a:pPr>
            <a:r>
              <a:t>Recorded transactions</a:t>
            </a:r>
          </a:p>
        </p:txBody>
      </p:sp>
      <p:sp>
        <p:nvSpPr>
          <p:cNvPr id="7" name="Rounded Rectangle 6"/>
          <p:cNvSpPr/>
          <p:nvPr/>
        </p:nvSpPr>
        <p:spPr>
          <a:xfrm>
            <a:off x="6035040" y="1325880"/>
            <a:ext cx="2514600" cy="1234440"/>
          </a:xfrm>
          <a:prstGeom prst="roundRect">
            <a:avLst/>
          </a:prstGeom>
          <a:solidFill>
            <a:srgbClr val="FFFFFF"/>
          </a:solidFill>
          <a:ln>
            <a:solidFill>
              <a:srgbClr val="E0CD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65E58"/>
                </a:solidFill>
                <a:latin typeface="Aptos"/>
              </a:defRPr>
            </a:pPr>
            <a:r>
              <a:t>TOTAL PROFIT</a:t>
            </a:r>
          </a:p>
          <a:p>
            <a:pPr algn="ctr">
              <a:defRPr sz="2200" b="1">
                <a:solidFill>
                  <a:srgbClr val="71482D"/>
                </a:solidFill>
                <a:latin typeface="Aptos Display"/>
              </a:defRPr>
            </a:pPr>
            <a:r>
              <a:t>175,869.48</a:t>
            </a:r>
          </a:p>
          <a:p>
            <a:pPr algn="ctr">
              <a:defRPr sz="800">
                <a:solidFill>
                  <a:srgbClr val="665E58"/>
                </a:solidFill>
                <a:latin typeface="Aptos"/>
              </a:defRPr>
            </a:pPr>
            <a:r>
              <a:t>Overall profit</a:t>
            </a:r>
          </a:p>
        </p:txBody>
      </p:sp>
      <p:sp>
        <p:nvSpPr>
          <p:cNvPr id="8" name="Rounded Rectangle 7"/>
          <p:cNvSpPr/>
          <p:nvPr/>
        </p:nvSpPr>
        <p:spPr>
          <a:xfrm>
            <a:off x="8732520" y="1325880"/>
            <a:ext cx="2514600" cy="1234440"/>
          </a:xfrm>
          <a:prstGeom prst="roundRect">
            <a:avLst/>
          </a:prstGeom>
          <a:solidFill>
            <a:srgbClr val="FFFFFF"/>
          </a:solidFill>
          <a:ln>
            <a:solidFill>
              <a:srgbClr val="E0CD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65E58"/>
                </a:solidFill>
                <a:latin typeface="Aptos"/>
              </a:defRPr>
            </a:pPr>
            <a:r>
              <a:t>AVERAGE RATING</a:t>
            </a:r>
          </a:p>
          <a:p>
            <a:pPr algn="ctr">
              <a:defRPr sz="2200" b="1">
                <a:solidFill>
                  <a:srgbClr val="71482D"/>
                </a:solidFill>
                <a:latin typeface="Aptos Display"/>
              </a:defRPr>
            </a:pPr>
            <a:r>
              <a:t>3.99</a:t>
            </a:r>
          </a:p>
          <a:p>
            <a:pPr algn="ctr">
              <a:defRPr sz="800">
                <a:solidFill>
                  <a:srgbClr val="665E58"/>
                </a:solidFill>
                <a:latin typeface="Aptos"/>
              </a:defRPr>
            </a:pPr>
            <a:r>
              <a:t>Customer rating</a:t>
            </a:r>
          </a:p>
        </p:txBody>
      </p:sp>
      <p:sp>
        <p:nvSpPr>
          <p:cNvPr id="9" name="Rounded Rectangle 8"/>
          <p:cNvSpPr/>
          <p:nvPr/>
        </p:nvSpPr>
        <p:spPr>
          <a:xfrm>
            <a:off x="640080" y="2788920"/>
            <a:ext cx="5257800" cy="260604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What stands out</a:t>
            </a:r>
          </a:p>
          <a:p>
            <a:pPr>
              <a:spcBef>
                <a:spcPts val="500"/>
              </a:spcBef>
              <a:defRPr sz="1100">
                <a:solidFill>
                  <a:srgbClr val="412D22"/>
                </a:solidFill>
                <a:latin typeface="Aptos"/>
              </a:defRPr>
            </a:pPr>
            <a:r>
              <a:t>Sales are spread across multiple outlets, with visible differences in outlet revenue and profit.</a:t>
            </a:r>
          </a:p>
          <a:p>
            <a:pPr>
              <a:spcBef>
                <a:spcPts val="500"/>
              </a:spcBef>
              <a:defRPr sz="1100">
                <a:solidFill>
                  <a:srgbClr val="412D22"/>
                </a:solidFill>
                <a:latin typeface="Aptos"/>
              </a:defRPr>
            </a:pPr>
            <a:r>
              <a:t>Monthly revenue is fairly steady from January to June, with March the strongest visible month and June the weakest.</a:t>
            </a:r>
          </a:p>
          <a:p>
            <a:pPr>
              <a:spcBef>
                <a:spcPts val="500"/>
              </a:spcBef>
              <a:defRPr sz="1100">
                <a:solidFill>
                  <a:srgbClr val="412D22"/>
                </a:solidFill>
                <a:latin typeface="Aptos"/>
              </a:defRPr>
            </a:pPr>
            <a:r>
              <a:t>Customer experience is close to a 4.0 average rating, leaving room for improvement.</a:t>
            </a:r>
          </a:p>
        </p:txBody>
      </p:sp>
      <p:sp>
        <p:nvSpPr>
          <p:cNvPr id="10" name="Rounded Rectangle 9"/>
          <p:cNvSpPr/>
          <p:nvPr/>
        </p:nvSpPr>
        <p:spPr>
          <a:xfrm>
            <a:off x="6126480" y="2788920"/>
            <a:ext cx="5120640" cy="260604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Management takeaway</a:t>
            </a:r>
          </a:p>
          <a:p>
            <a:pPr>
              <a:spcBef>
                <a:spcPts val="500"/>
              </a:spcBef>
              <a:defRPr sz="1100">
                <a:solidFill>
                  <a:srgbClr val="412D22"/>
                </a:solidFill>
                <a:latin typeface="Aptos"/>
              </a:defRPr>
            </a:pPr>
            <a:r>
              <a:t>Protect the strongest revenue periods and promotions.</a:t>
            </a:r>
          </a:p>
          <a:p>
            <a:pPr>
              <a:spcBef>
                <a:spcPts val="500"/>
              </a:spcBef>
              <a:defRPr sz="1100">
                <a:solidFill>
                  <a:srgbClr val="412D22"/>
                </a:solidFill>
                <a:latin typeface="Aptos"/>
              </a:defRPr>
            </a:pPr>
            <a:r>
              <a:t>Plan staffing around the busiest trading hours.</a:t>
            </a:r>
          </a:p>
          <a:p>
            <a:pPr>
              <a:spcBef>
                <a:spcPts val="500"/>
              </a:spcBef>
              <a:defRPr sz="1100">
                <a:solidFill>
                  <a:srgbClr val="412D22"/>
                </a:solidFill>
                <a:latin typeface="Aptos"/>
              </a:defRPr>
            </a:pPr>
            <a:r>
              <a:t>Investigate lower-performing outlets and product categories.</a:t>
            </a:r>
          </a:p>
          <a:p>
            <a:pPr>
              <a:spcBef>
                <a:spcPts val="500"/>
              </a:spcBef>
              <a:defRPr sz="1100">
                <a:solidFill>
                  <a:srgbClr val="412D22"/>
                </a:solidFill>
                <a:latin typeface="Aptos"/>
              </a:defRPr>
            </a:pPr>
            <a:r>
              <a:t>Use payment and promotion patterns to improve conversion.</a:t>
            </a:r>
          </a:p>
        </p:txBody>
      </p:sp>
      <p:sp>
        <p:nvSpPr>
          <p:cNvPr id="11" name="TextBox 10"/>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t>2. Revenue &amp; Outlet Performance</a:t>
            </a:r>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t>Revenue and profit vary by outlet, creating an opportunity to benchmark stores.</a:t>
            </a:r>
          </a:p>
        </p:txBody>
      </p:sp>
      <p:sp>
        <p:nvSpPr>
          <p:cNvPr id="5" name="Rounded Rectangle 4"/>
          <p:cNvSpPr/>
          <p:nvPr/>
        </p:nvSpPr>
        <p:spPr>
          <a:xfrm>
            <a:off x="594360" y="1325880"/>
            <a:ext cx="5486400" cy="233172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823637" y="3438144"/>
            <a:ext cx="1027845" cy="215444"/>
          </a:xfrm>
          <a:prstGeom prst="rect">
            <a:avLst/>
          </a:prstGeom>
          <a:noFill/>
        </p:spPr>
        <p:txBody>
          <a:bodyPr wrap="none">
            <a:spAutoFit/>
          </a:bodyPr>
          <a:lstStyle/>
          <a:p>
            <a:pPr algn="ctr">
              <a:defRPr sz="800">
                <a:solidFill>
                  <a:srgbClr val="665E58"/>
                </a:solidFill>
                <a:latin typeface="Aptos"/>
              </a:defRPr>
            </a:pPr>
            <a:r>
              <a:rPr b="1" dirty="0"/>
              <a:t>Revenue by outlet</a:t>
            </a:r>
          </a:p>
        </p:txBody>
      </p:sp>
      <p:sp>
        <p:nvSpPr>
          <p:cNvPr id="8" name="Rounded Rectangle 7"/>
          <p:cNvSpPr/>
          <p:nvPr/>
        </p:nvSpPr>
        <p:spPr>
          <a:xfrm>
            <a:off x="6217920" y="1325880"/>
            <a:ext cx="5349240" cy="233172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7648" y="3438144"/>
            <a:ext cx="5129783" cy="164592"/>
          </a:xfrm>
          <a:prstGeom prst="rect">
            <a:avLst/>
          </a:prstGeom>
          <a:noFill/>
        </p:spPr>
        <p:txBody>
          <a:bodyPr wrap="none">
            <a:spAutoFit/>
          </a:bodyPr>
          <a:lstStyle/>
          <a:p>
            <a:pPr algn="ctr">
              <a:defRPr sz="800">
                <a:solidFill>
                  <a:srgbClr val="665E58"/>
                </a:solidFill>
                <a:latin typeface="Aptos"/>
              </a:defRPr>
            </a:pPr>
            <a:r>
              <a:t>Profit by outlet</a:t>
            </a:r>
          </a:p>
        </p:txBody>
      </p:sp>
      <p:sp>
        <p:nvSpPr>
          <p:cNvPr id="11" name="Rounded Rectangle 10"/>
          <p:cNvSpPr/>
          <p:nvPr/>
        </p:nvSpPr>
        <p:spPr>
          <a:xfrm>
            <a:off x="594360" y="3886200"/>
            <a:ext cx="10972800" cy="20574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Insight</a:t>
            </a:r>
          </a:p>
          <a:p>
            <a:pPr>
              <a:spcBef>
                <a:spcPts val="500"/>
              </a:spcBef>
              <a:defRPr sz="1100">
                <a:solidFill>
                  <a:srgbClr val="412D22"/>
                </a:solidFill>
                <a:latin typeface="Aptos"/>
              </a:defRPr>
            </a:pPr>
            <a:r>
              <a:t>Outlet revenue is broadly clustered, but the chart shows a clear highest-performing outlet and a few lower performers.</a:t>
            </a:r>
          </a:p>
          <a:p>
            <a:pPr>
              <a:spcBef>
                <a:spcPts val="500"/>
              </a:spcBef>
              <a:defRPr sz="1100">
                <a:solidFill>
                  <a:srgbClr val="412D22"/>
                </a:solidFill>
                <a:latin typeface="Aptos"/>
              </a:defRPr>
            </a:pPr>
            <a:r>
              <a:t>Profit follows a similar pattern, so outlet-level operational practices are likely important to profitability.</a:t>
            </a:r>
          </a:p>
          <a:p>
            <a:pPr>
              <a:spcBef>
                <a:spcPts val="500"/>
              </a:spcBef>
              <a:defRPr sz="1100">
                <a:solidFill>
                  <a:srgbClr val="412D22"/>
                </a:solidFill>
                <a:latin typeface="Aptos"/>
              </a:defRPr>
            </a:pPr>
            <a:r>
              <a:t>Recommended action: benchmark the strongest outlet against weaker outlets on staffing, product mix, promotions and operating practices.</a:t>
            </a:r>
          </a:p>
        </p:txBody>
      </p:sp>
      <p:sp>
        <p:nvSpPr>
          <p:cNvPr id="12" name="TextBox 11"/>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3</a:t>
            </a:r>
          </a:p>
        </p:txBody>
      </p:sp>
      <p:graphicFrame>
        <p:nvGraphicFramePr>
          <p:cNvPr id="13" name="Chart 12">
            <a:extLst>
              <a:ext uri="{FF2B5EF4-FFF2-40B4-BE49-F238E27FC236}">
                <a16:creationId xmlns:a16="http://schemas.microsoft.com/office/drawing/2014/main" id="{A483C8FA-4469-4AFC-9734-4B69E4054EEA}"/>
              </a:ext>
            </a:extLst>
          </p:cNvPr>
          <p:cNvGraphicFramePr>
            <a:graphicFrameLocks/>
          </p:cNvGraphicFramePr>
          <p:nvPr>
            <p:extLst>
              <p:ext uri="{D42A27DB-BD31-4B8C-83A1-F6EECF244321}">
                <p14:modId xmlns:p14="http://schemas.microsoft.com/office/powerpoint/2010/main" val="1111015025"/>
              </p:ext>
            </p:extLst>
          </p:nvPr>
        </p:nvGraphicFramePr>
        <p:xfrm>
          <a:off x="914401" y="1490472"/>
          <a:ext cx="4768644" cy="19369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2FFAD764-A714-44B0-9BF7-ECCCFCA823DA}"/>
              </a:ext>
            </a:extLst>
          </p:cNvPr>
          <p:cNvGraphicFramePr>
            <a:graphicFrameLocks/>
          </p:cNvGraphicFramePr>
          <p:nvPr>
            <p:extLst>
              <p:ext uri="{D42A27DB-BD31-4B8C-83A1-F6EECF244321}">
                <p14:modId xmlns:p14="http://schemas.microsoft.com/office/powerpoint/2010/main" val="1332121981"/>
              </p:ext>
            </p:extLst>
          </p:nvPr>
        </p:nvGraphicFramePr>
        <p:xfrm>
          <a:off x="6508955" y="1471879"/>
          <a:ext cx="4847893" cy="1974127"/>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t>3. Sales Trend &amp; Category Mix</a:t>
            </a:r>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t>Monthly movement is stable overall, while category revenue shows clear differences.</a:t>
            </a:r>
          </a:p>
        </p:txBody>
      </p:sp>
      <p:sp>
        <p:nvSpPr>
          <p:cNvPr id="5" name="Rounded Rectangle 4"/>
          <p:cNvSpPr/>
          <p:nvPr/>
        </p:nvSpPr>
        <p:spPr>
          <a:xfrm>
            <a:off x="594360" y="1280160"/>
            <a:ext cx="5486400" cy="25146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3575304"/>
            <a:ext cx="5266944" cy="164592"/>
          </a:xfrm>
          <a:prstGeom prst="rect">
            <a:avLst/>
          </a:prstGeom>
          <a:noFill/>
        </p:spPr>
        <p:txBody>
          <a:bodyPr wrap="none">
            <a:spAutoFit/>
          </a:bodyPr>
          <a:lstStyle/>
          <a:p>
            <a:pPr algn="ctr">
              <a:defRPr sz="800">
                <a:solidFill>
                  <a:srgbClr val="665E58"/>
                </a:solidFill>
                <a:latin typeface="Aptos"/>
              </a:defRPr>
            </a:pPr>
            <a:r>
              <a:t>Sales by month</a:t>
            </a:r>
          </a:p>
        </p:txBody>
      </p:sp>
      <p:sp>
        <p:nvSpPr>
          <p:cNvPr id="8" name="Rounded Rectangle 7"/>
          <p:cNvSpPr/>
          <p:nvPr/>
        </p:nvSpPr>
        <p:spPr>
          <a:xfrm>
            <a:off x="6217920" y="1280160"/>
            <a:ext cx="5349240" cy="25146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7648" y="3575304"/>
            <a:ext cx="5129783" cy="164592"/>
          </a:xfrm>
          <a:prstGeom prst="rect">
            <a:avLst/>
          </a:prstGeom>
          <a:noFill/>
        </p:spPr>
        <p:txBody>
          <a:bodyPr wrap="none">
            <a:spAutoFit/>
          </a:bodyPr>
          <a:lstStyle/>
          <a:p>
            <a:pPr algn="ctr">
              <a:defRPr sz="800">
                <a:solidFill>
                  <a:srgbClr val="665E58"/>
                </a:solidFill>
                <a:latin typeface="Aptos"/>
              </a:defRPr>
            </a:pPr>
            <a:r>
              <a:t>Category by revenue</a:t>
            </a:r>
          </a:p>
        </p:txBody>
      </p:sp>
      <p:sp>
        <p:nvSpPr>
          <p:cNvPr id="11" name="Rounded Rectangle 10"/>
          <p:cNvSpPr/>
          <p:nvPr/>
        </p:nvSpPr>
        <p:spPr>
          <a:xfrm>
            <a:off x="594360" y="4069080"/>
            <a:ext cx="10972800" cy="18288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Key insight</a:t>
            </a:r>
          </a:p>
          <a:p>
            <a:pPr>
              <a:spcBef>
                <a:spcPts val="500"/>
              </a:spcBef>
              <a:defRPr sz="1100">
                <a:solidFill>
                  <a:srgbClr val="412D22"/>
                </a:solidFill>
                <a:latin typeface="Aptos"/>
              </a:defRPr>
            </a:pPr>
            <a:r>
              <a:t>March is the strongest visible month; June is the weakest, indicating a softening toward the end of the displayed period.</a:t>
            </a:r>
          </a:p>
          <a:p>
            <a:pPr>
              <a:spcBef>
                <a:spcPts val="500"/>
              </a:spcBef>
              <a:defRPr sz="1100">
                <a:solidFill>
                  <a:srgbClr val="412D22"/>
                </a:solidFill>
                <a:latin typeface="Aptos"/>
              </a:defRPr>
            </a:pPr>
            <a:r>
              <a:t>Category revenue is uneven, so product/category-level focus can help protect revenue.</a:t>
            </a:r>
          </a:p>
          <a:p>
            <a:pPr>
              <a:spcBef>
                <a:spcPts val="500"/>
              </a:spcBef>
              <a:defRPr sz="1100">
                <a:solidFill>
                  <a:srgbClr val="412D22"/>
                </a:solidFill>
                <a:latin typeface="Aptos"/>
              </a:defRPr>
            </a:pPr>
            <a:r>
              <a:t>Recommended action: investigate the June dip and replicate the product mix that performs strongly in peak months.</a:t>
            </a:r>
          </a:p>
        </p:txBody>
      </p:sp>
      <p:sp>
        <p:nvSpPr>
          <p:cNvPr id="12" name="TextBox 11"/>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4</a:t>
            </a:r>
          </a:p>
        </p:txBody>
      </p:sp>
      <p:graphicFrame>
        <p:nvGraphicFramePr>
          <p:cNvPr id="13" name="Chart 12">
            <a:extLst>
              <a:ext uri="{FF2B5EF4-FFF2-40B4-BE49-F238E27FC236}">
                <a16:creationId xmlns:a16="http://schemas.microsoft.com/office/drawing/2014/main" id="{0CA934DE-1E04-4AEC-9ED6-D06D26AECBB6}"/>
              </a:ext>
            </a:extLst>
          </p:cNvPr>
          <p:cNvGraphicFramePr>
            <a:graphicFrameLocks/>
          </p:cNvGraphicFramePr>
          <p:nvPr>
            <p:extLst>
              <p:ext uri="{D42A27DB-BD31-4B8C-83A1-F6EECF244321}">
                <p14:modId xmlns:p14="http://schemas.microsoft.com/office/powerpoint/2010/main" val="3975518796"/>
              </p:ext>
            </p:extLst>
          </p:nvPr>
        </p:nvGraphicFramePr>
        <p:xfrm>
          <a:off x="1229032" y="1415845"/>
          <a:ext cx="4159045" cy="20689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C2A59F67-1D40-43CD-B590-7C90B088B106}"/>
              </a:ext>
            </a:extLst>
          </p:cNvPr>
          <p:cNvGraphicFramePr>
            <a:graphicFrameLocks/>
          </p:cNvGraphicFramePr>
          <p:nvPr>
            <p:extLst>
              <p:ext uri="{D42A27DB-BD31-4B8C-83A1-F6EECF244321}">
                <p14:modId xmlns:p14="http://schemas.microsoft.com/office/powerpoint/2010/main" val="2087807994"/>
              </p:ext>
            </p:extLst>
          </p:nvPr>
        </p:nvGraphicFramePr>
        <p:xfrm>
          <a:off x="6715432" y="1543276"/>
          <a:ext cx="4080387" cy="197716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rPr dirty="0"/>
              <a:t>4. Customer </a:t>
            </a:r>
            <a:r>
              <a:rPr dirty="0" err="1"/>
              <a:t>Behaviour</a:t>
            </a:r>
            <a:r>
              <a:rPr dirty="0"/>
              <a:t> &amp; Operations</a:t>
            </a:r>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rPr dirty="0"/>
              <a:t>Payment preference and time-of-day demand can directly support operational planning.</a:t>
            </a:r>
          </a:p>
        </p:txBody>
      </p:sp>
      <p:sp>
        <p:nvSpPr>
          <p:cNvPr id="5" name="Rounded Rectangle 4"/>
          <p:cNvSpPr/>
          <p:nvPr/>
        </p:nvSpPr>
        <p:spPr>
          <a:xfrm>
            <a:off x="594360" y="1280160"/>
            <a:ext cx="5486400" cy="25146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3575304"/>
            <a:ext cx="5266944" cy="164592"/>
          </a:xfrm>
          <a:prstGeom prst="rect">
            <a:avLst/>
          </a:prstGeom>
          <a:noFill/>
        </p:spPr>
        <p:txBody>
          <a:bodyPr wrap="none">
            <a:spAutoFit/>
          </a:bodyPr>
          <a:lstStyle/>
          <a:p>
            <a:pPr algn="ctr">
              <a:defRPr sz="800">
                <a:solidFill>
                  <a:srgbClr val="665E58"/>
                </a:solidFill>
                <a:latin typeface="Aptos"/>
              </a:defRPr>
            </a:pPr>
            <a:r>
              <a:t>Sales by payment method</a:t>
            </a:r>
          </a:p>
        </p:txBody>
      </p:sp>
      <p:sp>
        <p:nvSpPr>
          <p:cNvPr id="8" name="Rounded Rectangle 7"/>
          <p:cNvSpPr/>
          <p:nvPr/>
        </p:nvSpPr>
        <p:spPr>
          <a:xfrm>
            <a:off x="6217920" y="1280160"/>
            <a:ext cx="5349240" cy="25146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7648" y="3575304"/>
            <a:ext cx="5129783" cy="164592"/>
          </a:xfrm>
          <a:prstGeom prst="rect">
            <a:avLst/>
          </a:prstGeom>
          <a:noFill/>
        </p:spPr>
        <p:txBody>
          <a:bodyPr wrap="none">
            <a:spAutoFit/>
          </a:bodyPr>
          <a:lstStyle/>
          <a:p>
            <a:pPr algn="ctr">
              <a:defRPr sz="800">
                <a:solidFill>
                  <a:srgbClr val="665E58"/>
                </a:solidFill>
                <a:latin typeface="Aptos"/>
              </a:defRPr>
            </a:pPr>
            <a:r>
              <a:t>Busiest hours of the day</a:t>
            </a:r>
          </a:p>
        </p:txBody>
      </p:sp>
      <p:sp>
        <p:nvSpPr>
          <p:cNvPr id="11" name="Rounded Rectangle 10"/>
          <p:cNvSpPr/>
          <p:nvPr/>
        </p:nvSpPr>
        <p:spPr>
          <a:xfrm>
            <a:off x="594360" y="4069080"/>
            <a:ext cx="10972800" cy="18288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Operational insight</a:t>
            </a:r>
          </a:p>
          <a:p>
            <a:pPr>
              <a:spcBef>
                <a:spcPts val="500"/>
              </a:spcBef>
              <a:defRPr sz="1100">
                <a:solidFill>
                  <a:srgbClr val="412D22"/>
                </a:solidFill>
                <a:latin typeface="Aptos"/>
              </a:defRPr>
            </a:pPr>
            <a:r>
              <a:t>UPI is the strongest visible payment method by revenue; digital payments are important to the business.</a:t>
            </a:r>
          </a:p>
          <a:p>
            <a:pPr>
              <a:spcBef>
                <a:spcPts val="500"/>
              </a:spcBef>
              <a:defRPr sz="1100">
                <a:solidFill>
                  <a:srgbClr val="412D22"/>
                </a:solidFill>
                <a:latin typeface="Aptos"/>
              </a:defRPr>
            </a:pPr>
            <a:r>
              <a:t>Transaction activity peaks around 08:00–10:00 and again around 18:00–20:00.</a:t>
            </a:r>
          </a:p>
          <a:p>
            <a:pPr>
              <a:spcBef>
                <a:spcPts val="500"/>
              </a:spcBef>
              <a:defRPr sz="1100">
                <a:solidFill>
                  <a:srgbClr val="412D22"/>
                </a:solidFill>
                <a:latin typeface="Aptos"/>
              </a:defRPr>
            </a:pPr>
            <a:r>
              <a:t>Recommended action: schedule more staff and faster order preparation during these peak windows.</a:t>
            </a:r>
          </a:p>
        </p:txBody>
      </p:sp>
      <p:sp>
        <p:nvSpPr>
          <p:cNvPr id="12" name="TextBox 11"/>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5</a:t>
            </a:r>
          </a:p>
        </p:txBody>
      </p:sp>
      <p:graphicFrame>
        <p:nvGraphicFramePr>
          <p:cNvPr id="13" name="Chart 12">
            <a:extLst>
              <a:ext uri="{FF2B5EF4-FFF2-40B4-BE49-F238E27FC236}">
                <a16:creationId xmlns:a16="http://schemas.microsoft.com/office/drawing/2014/main" id="{16A1B64B-72C9-4DB3-AB5B-B96DF34A9F2F}"/>
              </a:ext>
            </a:extLst>
          </p:cNvPr>
          <p:cNvGraphicFramePr>
            <a:graphicFrameLocks/>
          </p:cNvGraphicFramePr>
          <p:nvPr>
            <p:extLst>
              <p:ext uri="{D42A27DB-BD31-4B8C-83A1-F6EECF244321}">
                <p14:modId xmlns:p14="http://schemas.microsoft.com/office/powerpoint/2010/main" val="3391312276"/>
              </p:ext>
            </p:extLst>
          </p:nvPr>
        </p:nvGraphicFramePr>
        <p:xfrm>
          <a:off x="776748" y="1353312"/>
          <a:ext cx="5083278" cy="22037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D0FE6068-D8B1-41D0-BA7A-BB9518ED1E05}"/>
              </a:ext>
            </a:extLst>
          </p:cNvPr>
          <p:cNvGraphicFramePr>
            <a:graphicFrameLocks/>
          </p:cNvGraphicFramePr>
          <p:nvPr>
            <p:extLst>
              <p:ext uri="{D42A27DB-BD31-4B8C-83A1-F6EECF244321}">
                <p14:modId xmlns:p14="http://schemas.microsoft.com/office/powerpoint/2010/main" val="1431857082"/>
              </p:ext>
            </p:extLst>
          </p:nvPr>
        </p:nvGraphicFramePr>
        <p:xfrm>
          <a:off x="6327648" y="1479943"/>
          <a:ext cx="5029200" cy="196734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t>5. Promotions, Products &amp; Customer Satisfaction</a:t>
            </a:r>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t>The strongest promotional and product signals can be used to increase sales while protecting experience.</a:t>
            </a:r>
          </a:p>
        </p:txBody>
      </p:sp>
      <p:sp>
        <p:nvSpPr>
          <p:cNvPr id="5" name="Rounded Rectangle 4"/>
          <p:cNvSpPr/>
          <p:nvPr/>
        </p:nvSpPr>
        <p:spPr>
          <a:xfrm>
            <a:off x="502920" y="1234440"/>
            <a:ext cx="3657600" cy="260604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648" y="3621024"/>
            <a:ext cx="3438144" cy="164592"/>
          </a:xfrm>
          <a:prstGeom prst="rect">
            <a:avLst/>
          </a:prstGeom>
          <a:noFill/>
        </p:spPr>
        <p:txBody>
          <a:bodyPr wrap="none">
            <a:spAutoFit/>
          </a:bodyPr>
          <a:lstStyle/>
          <a:p>
            <a:pPr algn="ctr">
              <a:defRPr sz="800">
                <a:solidFill>
                  <a:srgbClr val="665E58"/>
                </a:solidFill>
                <a:latin typeface="Aptos"/>
              </a:defRPr>
            </a:pPr>
            <a:r>
              <a:t>Revenue by promotion</a:t>
            </a:r>
          </a:p>
        </p:txBody>
      </p:sp>
      <p:sp>
        <p:nvSpPr>
          <p:cNvPr id="8" name="Rounded Rectangle 7"/>
          <p:cNvSpPr/>
          <p:nvPr/>
        </p:nvSpPr>
        <p:spPr>
          <a:xfrm>
            <a:off x="4297680" y="1234440"/>
            <a:ext cx="3657600" cy="260604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3621024"/>
            <a:ext cx="3438144" cy="164592"/>
          </a:xfrm>
          <a:prstGeom prst="rect">
            <a:avLst/>
          </a:prstGeom>
          <a:noFill/>
        </p:spPr>
        <p:txBody>
          <a:bodyPr wrap="none">
            <a:spAutoFit/>
          </a:bodyPr>
          <a:lstStyle/>
          <a:p>
            <a:pPr algn="ctr">
              <a:defRPr sz="800">
                <a:solidFill>
                  <a:srgbClr val="665E58"/>
                </a:solidFill>
                <a:latin typeface="Aptos"/>
              </a:defRPr>
            </a:pPr>
            <a:r>
              <a:t>Top 10 product by rating</a:t>
            </a:r>
          </a:p>
        </p:txBody>
      </p:sp>
      <p:sp>
        <p:nvSpPr>
          <p:cNvPr id="11" name="Rounded Rectangle 10"/>
          <p:cNvSpPr/>
          <p:nvPr/>
        </p:nvSpPr>
        <p:spPr>
          <a:xfrm>
            <a:off x="8092440" y="1234440"/>
            <a:ext cx="3611880" cy="260604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02167" y="3621024"/>
            <a:ext cx="3392424" cy="164592"/>
          </a:xfrm>
          <a:prstGeom prst="rect">
            <a:avLst/>
          </a:prstGeom>
          <a:noFill/>
        </p:spPr>
        <p:txBody>
          <a:bodyPr wrap="none">
            <a:spAutoFit/>
          </a:bodyPr>
          <a:lstStyle/>
          <a:p>
            <a:pPr algn="ctr">
              <a:defRPr sz="800">
                <a:solidFill>
                  <a:srgbClr val="665E58"/>
                </a:solidFill>
                <a:latin typeface="Aptos"/>
              </a:defRPr>
            </a:pPr>
            <a:r>
              <a:t>Product quantity</a:t>
            </a:r>
          </a:p>
        </p:txBody>
      </p:sp>
      <p:sp>
        <p:nvSpPr>
          <p:cNvPr id="14" name="Rounded Rectangle 13"/>
          <p:cNvSpPr/>
          <p:nvPr/>
        </p:nvSpPr>
        <p:spPr>
          <a:xfrm>
            <a:off x="502920" y="4114800"/>
            <a:ext cx="11201400" cy="1874519"/>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Key findings</a:t>
            </a:r>
          </a:p>
          <a:p>
            <a:pPr>
              <a:spcBef>
                <a:spcPts val="500"/>
              </a:spcBef>
              <a:defRPr sz="1100">
                <a:solidFill>
                  <a:srgbClr val="412D22"/>
                </a:solidFill>
                <a:latin typeface="Aptos"/>
              </a:defRPr>
            </a:pPr>
            <a:r>
              <a:t>Summer is the strongest visible promotion; Weekly and Student promotions are also among the stronger performers.</a:t>
            </a:r>
          </a:p>
          <a:p>
            <a:pPr>
              <a:spcBef>
                <a:spcPts val="500"/>
              </a:spcBef>
              <a:defRPr sz="1100">
                <a:solidFill>
                  <a:srgbClr val="412D22"/>
                </a:solidFill>
                <a:latin typeface="Aptos"/>
              </a:defRPr>
            </a:pPr>
            <a:r>
              <a:t>Top-rated products sit around the 4.1–4.4 range, while the overall average rating is 3.99.</a:t>
            </a:r>
          </a:p>
          <a:p>
            <a:pPr>
              <a:spcBef>
                <a:spcPts val="500"/>
              </a:spcBef>
              <a:defRPr sz="1100">
                <a:solidFill>
                  <a:srgbClr val="412D22"/>
                </a:solidFill>
                <a:latin typeface="Aptos"/>
              </a:defRPr>
            </a:pPr>
            <a:r>
              <a:t>The quantity chart shows a few products with noticeably higher demand; these should receive priority for availability during peak hours.</a:t>
            </a:r>
          </a:p>
        </p:txBody>
      </p:sp>
      <p:sp>
        <p:nvSpPr>
          <p:cNvPr id="15" name="TextBox 14"/>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6</a:t>
            </a:r>
          </a:p>
        </p:txBody>
      </p:sp>
      <p:graphicFrame>
        <p:nvGraphicFramePr>
          <p:cNvPr id="16" name="Chart 15">
            <a:extLst>
              <a:ext uri="{FF2B5EF4-FFF2-40B4-BE49-F238E27FC236}">
                <a16:creationId xmlns:a16="http://schemas.microsoft.com/office/drawing/2014/main" id="{A0C7A163-5310-4050-88EB-1CDBFE5811C5}"/>
              </a:ext>
            </a:extLst>
          </p:cNvPr>
          <p:cNvGraphicFramePr>
            <a:graphicFrameLocks/>
          </p:cNvGraphicFramePr>
          <p:nvPr>
            <p:extLst>
              <p:ext uri="{D42A27DB-BD31-4B8C-83A1-F6EECF244321}">
                <p14:modId xmlns:p14="http://schemas.microsoft.com/office/powerpoint/2010/main" val="3702268076"/>
              </p:ext>
            </p:extLst>
          </p:nvPr>
        </p:nvGraphicFramePr>
        <p:xfrm>
          <a:off x="612647" y="1595853"/>
          <a:ext cx="3494115" cy="20366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693F75FB-B7D8-4F7F-96B0-2A0A8BD61855}"/>
              </a:ext>
            </a:extLst>
          </p:cNvPr>
          <p:cNvGraphicFramePr>
            <a:graphicFrameLocks/>
          </p:cNvGraphicFramePr>
          <p:nvPr>
            <p:extLst>
              <p:ext uri="{D42A27DB-BD31-4B8C-83A1-F6EECF244321}">
                <p14:modId xmlns:p14="http://schemas.microsoft.com/office/powerpoint/2010/main" val="514273592"/>
              </p:ext>
            </p:extLst>
          </p:nvPr>
        </p:nvGraphicFramePr>
        <p:xfrm>
          <a:off x="4407408" y="1595853"/>
          <a:ext cx="3494115" cy="19885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7BAB303B-4460-4E29-9653-044836284DA9}"/>
              </a:ext>
            </a:extLst>
          </p:cNvPr>
          <p:cNvGraphicFramePr>
            <a:graphicFrameLocks/>
          </p:cNvGraphicFramePr>
          <p:nvPr>
            <p:extLst>
              <p:ext uri="{D42A27DB-BD31-4B8C-83A1-F6EECF244321}">
                <p14:modId xmlns:p14="http://schemas.microsoft.com/office/powerpoint/2010/main" val="2473560364"/>
              </p:ext>
            </p:extLst>
          </p:nvPr>
        </p:nvGraphicFramePr>
        <p:xfrm>
          <a:off x="8202167" y="1595853"/>
          <a:ext cx="3311236" cy="203662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t>6. Business Questions: What the Dashboard Answers</a:t>
            </a:r>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t>Evidence-based answers aligned to the client brief.</a:t>
            </a:r>
          </a:p>
        </p:txBody>
      </p:sp>
      <p:sp>
        <p:nvSpPr>
          <p:cNvPr id="5" name="Rounded Rectangle 4"/>
          <p:cNvSpPr/>
          <p:nvPr/>
        </p:nvSpPr>
        <p:spPr>
          <a:xfrm>
            <a:off x="594360" y="1234440"/>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Highest revenue/profit outlets</a:t>
            </a:r>
          </a:p>
          <a:p>
            <a:pPr>
              <a:defRPr sz="950">
                <a:solidFill>
                  <a:srgbClr val="412D22"/>
                </a:solidFill>
                <a:latin typeface="Aptos"/>
              </a:defRPr>
            </a:pPr>
            <a:r>
              <a:t>Outlet charts show clear performance differences; the leading outlet should be benchmarked against lower performers.</a:t>
            </a:r>
          </a:p>
        </p:txBody>
      </p:sp>
      <p:sp>
        <p:nvSpPr>
          <p:cNvPr id="6" name="Rounded Rectangle 5"/>
          <p:cNvSpPr/>
          <p:nvPr/>
        </p:nvSpPr>
        <p:spPr>
          <a:xfrm>
            <a:off x="594360" y="2441448"/>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Top-selling products</a:t>
            </a:r>
          </a:p>
          <a:p>
            <a:pPr>
              <a:defRPr sz="950">
                <a:solidFill>
                  <a:srgbClr val="412D22"/>
                </a:solidFill>
                <a:latin typeface="Aptos"/>
              </a:defRPr>
            </a:pPr>
            <a:r>
              <a:t>Quantity chart shows a small group of higher-volume products; keep these products well stocked.</a:t>
            </a:r>
          </a:p>
        </p:txBody>
      </p:sp>
      <p:sp>
        <p:nvSpPr>
          <p:cNvPr id="7" name="Rounded Rectangle 6"/>
          <p:cNvSpPr/>
          <p:nvPr/>
        </p:nvSpPr>
        <p:spPr>
          <a:xfrm>
            <a:off x="594360" y="3648456"/>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Busiest hours</a:t>
            </a:r>
          </a:p>
          <a:p>
            <a:pPr>
              <a:defRPr sz="950">
                <a:solidFill>
                  <a:srgbClr val="412D22"/>
                </a:solidFill>
                <a:latin typeface="Aptos"/>
              </a:defRPr>
            </a:pPr>
            <a:r>
              <a:t>08:00–10:00 and 18:00–20:00 are the main visible peaks.</a:t>
            </a:r>
          </a:p>
        </p:txBody>
      </p:sp>
      <p:sp>
        <p:nvSpPr>
          <p:cNvPr id="8" name="Rounded Rectangle 7"/>
          <p:cNvSpPr/>
          <p:nvPr/>
        </p:nvSpPr>
        <p:spPr>
          <a:xfrm>
            <a:off x="594360" y="4855464"/>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Best promotions</a:t>
            </a:r>
          </a:p>
          <a:p>
            <a:pPr>
              <a:defRPr sz="950">
                <a:solidFill>
                  <a:srgbClr val="412D22"/>
                </a:solidFill>
                <a:latin typeface="Aptos"/>
              </a:defRPr>
            </a:pPr>
            <a:r>
              <a:t>Summer is the strongest visible campaign; Weekly and Student are also strong.</a:t>
            </a:r>
          </a:p>
        </p:txBody>
      </p:sp>
      <p:sp>
        <p:nvSpPr>
          <p:cNvPr id="9" name="Rounded Rectangle 8"/>
          <p:cNvSpPr/>
          <p:nvPr/>
        </p:nvSpPr>
        <p:spPr>
          <a:xfrm>
            <a:off x="6217920" y="1234440"/>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Highest customer segment revenue</a:t>
            </a:r>
          </a:p>
          <a:p>
            <a:pPr>
              <a:defRPr sz="950">
                <a:solidFill>
                  <a:srgbClr val="412D22"/>
                </a:solidFill>
                <a:latin typeface="Aptos"/>
              </a:defRPr>
            </a:pPr>
            <a:r>
              <a:t>Not directly proven in the current dashboard: Membership is available as a slicer, but revenue by membership is not shown.</a:t>
            </a:r>
          </a:p>
        </p:txBody>
      </p:sp>
      <p:sp>
        <p:nvSpPr>
          <p:cNvPr id="10" name="Rounded Rectangle 9"/>
          <p:cNvSpPr/>
          <p:nvPr/>
        </p:nvSpPr>
        <p:spPr>
          <a:xfrm>
            <a:off x="6217920" y="2441448"/>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Preferred payment method</a:t>
            </a:r>
          </a:p>
          <a:p>
            <a:pPr>
              <a:defRPr sz="950">
                <a:solidFill>
                  <a:srgbClr val="412D22"/>
                </a:solidFill>
                <a:latin typeface="Aptos"/>
              </a:defRPr>
            </a:pPr>
            <a:r>
              <a:t>UPI is the strongest visible payment method by revenue.</a:t>
            </a:r>
          </a:p>
        </p:txBody>
      </p:sp>
      <p:sp>
        <p:nvSpPr>
          <p:cNvPr id="11" name="Rounded Rectangle 10"/>
          <p:cNvSpPr/>
          <p:nvPr/>
        </p:nvSpPr>
        <p:spPr>
          <a:xfrm>
            <a:off x="6217920" y="3648456"/>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Highest-rated products</a:t>
            </a:r>
          </a:p>
          <a:p>
            <a:pPr>
              <a:defRPr sz="950">
                <a:solidFill>
                  <a:srgbClr val="412D22"/>
                </a:solidFill>
                <a:latin typeface="Aptos"/>
              </a:defRPr>
            </a:pPr>
            <a:r>
              <a:t>Top 10 products are approximately 4.1–4.4; exact names are truncated in the screenshot.</a:t>
            </a:r>
          </a:p>
        </p:txBody>
      </p:sp>
      <p:sp>
        <p:nvSpPr>
          <p:cNvPr id="12" name="Rounded Rectangle 11"/>
          <p:cNvSpPr/>
          <p:nvPr/>
        </p:nvSpPr>
        <p:spPr>
          <a:xfrm>
            <a:off x="6217920" y="4855464"/>
            <a:ext cx="5349240" cy="109728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37160" tIns="73152" rIns="109728" rtlCol="0" anchor="ctr"/>
          <a:lstStyle/>
          <a:p>
            <a:pPr algn="ctr">
              <a:defRPr sz="1100" b="1">
                <a:solidFill>
                  <a:srgbClr val="71482D"/>
                </a:solidFill>
                <a:latin typeface="Aptos"/>
              </a:defRPr>
            </a:pPr>
            <a:r>
              <a:t>Operational improvement</a:t>
            </a:r>
          </a:p>
          <a:p>
            <a:pPr>
              <a:defRPr sz="950">
                <a:solidFill>
                  <a:srgbClr val="412D22"/>
                </a:solidFill>
                <a:latin typeface="Aptos"/>
              </a:defRPr>
            </a:pPr>
            <a:r>
              <a:t>Lower-performing outlets and peak-hour congestion are the clearest improvement areas.</a:t>
            </a:r>
          </a:p>
        </p:txBody>
      </p:sp>
      <p:sp>
        <p:nvSpPr>
          <p:cNvPr id="13" name="TextBox 12"/>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t>7. Recommendations &amp; Expected Business Actions</a:t>
            </a:r>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t>Priorities are tied directly to the patterns visible in the analysis.</a:t>
            </a:r>
          </a:p>
        </p:txBody>
      </p:sp>
      <p:sp>
        <p:nvSpPr>
          <p:cNvPr id="5" name="Oval 4"/>
          <p:cNvSpPr/>
          <p:nvPr/>
        </p:nvSpPr>
        <p:spPr>
          <a:xfrm>
            <a:off x="685800" y="1234440"/>
            <a:ext cx="438912" cy="438912"/>
          </a:xfrm>
          <a:prstGeom prst="ellipse">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1</a:t>
            </a:r>
          </a:p>
        </p:txBody>
      </p:sp>
      <p:sp>
        <p:nvSpPr>
          <p:cNvPr id="6" name="TextBox 5"/>
          <p:cNvSpPr txBox="1"/>
          <p:nvPr/>
        </p:nvSpPr>
        <p:spPr>
          <a:xfrm>
            <a:off x="1280160" y="1207008"/>
            <a:ext cx="2743200" cy="274320"/>
          </a:xfrm>
          <a:prstGeom prst="rect">
            <a:avLst/>
          </a:prstGeom>
          <a:noFill/>
        </p:spPr>
        <p:txBody>
          <a:bodyPr wrap="none">
            <a:spAutoFit/>
          </a:bodyPr>
          <a:lstStyle/>
          <a:p>
            <a:pPr>
              <a:defRPr sz="1400" b="1">
                <a:solidFill>
                  <a:srgbClr val="71482D"/>
                </a:solidFill>
                <a:latin typeface="Aptos"/>
              </a:defRPr>
            </a:pPr>
            <a:r>
              <a:t>Peak-hour staffing</a:t>
            </a:r>
          </a:p>
        </p:txBody>
      </p:sp>
      <p:sp>
        <p:nvSpPr>
          <p:cNvPr id="7" name="TextBox 6"/>
          <p:cNvSpPr txBox="1"/>
          <p:nvPr/>
        </p:nvSpPr>
        <p:spPr>
          <a:xfrm>
            <a:off x="3749039" y="1207008"/>
            <a:ext cx="7406640" cy="411480"/>
          </a:xfrm>
          <a:prstGeom prst="rect">
            <a:avLst/>
          </a:prstGeom>
          <a:noFill/>
        </p:spPr>
        <p:txBody>
          <a:bodyPr wrap="none">
            <a:spAutoFit/>
          </a:bodyPr>
          <a:lstStyle/>
          <a:p>
            <a:pPr>
              <a:defRPr sz="1100">
                <a:solidFill>
                  <a:srgbClr val="412D22"/>
                </a:solidFill>
                <a:latin typeface="Aptos"/>
              </a:defRPr>
            </a:pPr>
            <a:r>
              <a:t>Add/shift staff and pre-prepare high-volume items for 08:00–10:00 and 18:00–20:00.</a:t>
            </a:r>
          </a:p>
        </p:txBody>
      </p:sp>
      <p:sp>
        <p:nvSpPr>
          <p:cNvPr id="8" name="Oval 7"/>
          <p:cNvSpPr/>
          <p:nvPr/>
        </p:nvSpPr>
        <p:spPr>
          <a:xfrm>
            <a:off x="685800" y="2167128"/>
            <a:ext cx="438912" cy="438912"/>
          </a:xfrm>
          <a:prstGeom prst="ellipse">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2</a:t>
            </a:r>
          </a:p>
        </p:txBody>
      </p:sp>
      <p:sp>
        <p:nvSpPr>
          <p:cNvPr id="9" name="TextBox 8"/>
          <p:cNvSpPr txBox="1"/>
          <p:nvPr/>
        </p:nvSpPr>
        <p:spPr>
          <a:xfrm>
            <a:off x="1280160" y="2139696"/>
            <a:ext cx="2743200" cy="274320"/>
          </a:xfrm>
          <a:prstGeom prst="rect">
            <a:avLst/>
          </a:prstGeom>
          <a:noFill/>
        </p:spPr>
        <p:txBody>
          <a:bodyPr wrap="none">
            <a:spAutoFit/>
          </a:bodyPr>
          <a:lstStyle/>
          <a:p>
            <a:pPr>
              <a:defRPr sz="1400" b="1">
                <a:solidFill>
                  <a:srgbClr val="71482D"/>
                </a:solidFill>
                <a:latin typeface="Aptos"/>
              </a:defRPr>
            </a:pPr>
            <a:r>
              <a:t>Promotion focus</a:t>
            </a:r>
          </a:p>
        </p:txBody>
      </p:sp>
      <p:sp>
        <p:nvSpPr>
          <p:cNvPr id="10" name="TextBox 9"/>
          <p:cNvSpPr txBox="1"/>
          <p:nvPr/>
        </p:nvSpPr>
        <p:spPr>
          <a:xfrm>
            <a:off x="3749039" y="2139696"/>
            <a:ext cx="7406640" cy="411480"/>
          </a:xfrm>
          <a:prstGeom prst="rect">
            <a:avLst/>
          </a:prstGeom>
          <a:noFill/>
        </p:spPr>
        <p:txBody>
          <a:bodyPr wrap="none">
            <a:spAutoFit/>
          </a:bodyPr>
          <a:lstStyle/>
          <a:p>
            <a:pPr>
              <a:defRPr sz="1100">
                <a:solidFill>
                  <a:srgbClr val="412D22"/>
                </a:solidFill>
                <a:latin typeface="Aptos"/>
              </a:defRPr>
            </a:pPr>
            <a:r>
              <a:t>Scale the strongest visible campaigns, especially Summer, and monitor ROI before extending discounts.</a:t>
            </a:r>
          </a:p>
        </p:txBody>
      </p:sp>
      <p:sp>
        <p:nvSpPr>
          <p:cNvPr id="11" name="Oval 10"/>
          <p:cNvSpPr/>
          <p:nvPr/>
        </p:nvSpPr>
        <p:spPr>
          <a:xfrm>
            <a:off x="685800" y="3099816"/>
            <a:ext cx="438912" cy="438912"/>
          </a:xfrm>
          <a:prstGeom prst="ellipse">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3</a:t>
            </a:r>
          </a:p>
        </p:txBody>
      </p:sp>
      <p:sp>
        <p:nvSpPr>
          <p:cNvPr id="12" name="TextBox 11"/>
          <p:cNvSpPr txBox="1"/>
          <p:nvPr/>
        </p:nvSpPr>
        <p:spPr>
          <a:xfrm>
            <a:off x="1280160" y="3072384"/>
            <a:ext cx="2743200" cy="274320"/>
          </a:xfrm>
          <a:prstGeom prst="rect">
            <a:avLst/>
          </a:prstGeom>
          <a:noFill/>
        </p:spPr>
        <p:txBody>
          <a:bodyPr wrap="none">
            <a:spAutoFit/>
          </a:bodyPr>
          <a:lstStyle/>
          <a:p>
            <a:pPr>
              <a:defRPr sz="1400" b="1">
                <a:solidFill>
                  <a:srgbClr val="71482D"/>
                </a:solidFill>
                <a:latin typeface="Aptos"/>
              </a:defRPr>
            </a:pPr>
            <a:r>
              <a:t>Outlet benchmarking</a:t>
            </a:r>
          </a:p>
        </p:txBody>
      </p:sp>
      <p:sp>
        <p:nvSpPr>
          <p:cNvPr id="13" name="TextBox 12"/>
          <p:cNvSpPr txBox="1"/>
          <p:nvPr/>
        </p:nvSpPr>
        <p:spPr>
          <a:xfrm>
            <a:off x="3749039" y="3072384"/>
            <a:ext cx="7406640" cy="411480"/>
          </a:xfrm>
          <a:prstGeom prst="rect">
            <a:avLst/>
          </a:prstGeom>
          <a:noFill/>
        </p:spPr>
        <p:txBody>
          <a:bodyPr wrap="none">
            <a:spAutoFit/>
          </a:bodyPr>
          <a:lstStyle/>
          <a:p>
            <a:pPr>
              <a:defRPr sz="1100">
                <a:solidFill>
                  <a:srgbClr val="412D22"/>
                </a:solidFill>
                <a:latin typeface="Aptos"/>
              </a:defRPr>
            </a:pPr>
            <a:r>
              <a:t>Compare lower-performing outlets with the strongest outlet on staffing, product mix, promotions and process.</a:t>
            </a:r>
          </a:p>
        </p:txBody>
      </p:sp>
      <p:sp>
        <p:nvSpPr>
          <p:cNvPr id="14" name="Oval 13"/>
          <p:cNvSpPr/>
          <p:nvPr/>
        </p:nvSpPr>
        <p:spPr>
          <a:xfrm>
            <a:off x="685800" y="4032504"/>
            <a:ext cx="438912" cy="438912"/>
          </a:xfrm>
          <a:prstGeom prst="ellipse">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4</a:t>
            </a:r>
          </a:p>
        </p:txBody>
      </p:sp>
      <p:sp>
        <p:nvSpPr>
          <p:cNvPr id="15" name="TextBox 14"/>
          <p:cNvSpPr txBox="1"/>
          <p:nvPr/>
        </p:nvSpPr>
        <p:spPr>
          <a:xfrm>
            <a:off x="1280160" y="4005072"/>
            <a:ext cx="2743200" cy="274320"/>
          </a:xfrm>
          <a:prstGeom prst="rect">
            <a:avLst/>
          </a:prstGeom>
          <a:noFill/>
        </p:spPr>
        <p:txBody>
          <a:bodyPr wrap="none">
            <a:spAutoFit/>
          </a:bodyPr>
          <a:lstStyle/>
          <a:p>
            <a:pPr>
              <a:defRPr sz="1400" b="1">
                <a:solidFill>
                  <a:srgbClr val="71482D"/>
                </a:solidFill>
                <a:latin typeface="Aptos"/>
              </a:defRPr>
            </a:pPr>
            <a:r>
              <a:t>Product availability</a:t>
            </a:r>
          </a:p>
        </p:txBody>
      </p:sp>
      <p:sp>
        <p:nvSpPr>
          <p:cNvPr id="16" name="TextBox 15"/>
          <p:cNvSpPr txBox="1"/>
          <p:nvPr/>
        </p:nvSpPr>
        <p:spPr>
          <a:xfrm>
            <a:off x="3749039" y="4005072"/>
            <a:ext cx="7406640" cy="411480"/>
          </a:xfrm>
          <a:prstGeom prst="rect">
            <a:avLst/>
          </a:prstGeom>
          <a:noFill/>
        </p:spPr>
        <p:txBody>
          <a:bodyPr wrap="none">
            <a:spAutoFit/>
          </a:bodyPr>
          <a:lstStyle/>
          <a:p>
            <a:pPr>
              <a:defRPr sz="1100">
                <a:solidFill>
                  <a:srgbClr val="412D22"/>
                </a:solidFill>
                <a:latin typeface="Aptos"/>
              </a:defRPr>
            </a:pPr>
            <a:r>
              <a:t>Protect stock availability for high-quantity products during peak periods.</a:t>
            </a:r>
          </a:p>
        </p:txBody>
      </p:sp>
      <p:sp>
        <p:nvSpPr>
          <p:cNvPr id="17" name="Oval 16"/>
          <p:cNvSpPr/>
          <p:nvPr/>
        </p:nvSpPr>
        <p:spPr>
          <a:xfrm>
            <a:off x="685800" y="4965192"/>
            <a:ext cx="438912" cy="438912"/>
          </a:xfrm>
          <a:prstGeom prst="ellipse">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5</a:t>
            </a:r>
          </a:p>
        </p:txBody>
      </p:sp>
      <p:sp>
        <p:nvSpPr>
          <p:cNvPr id="18" name="TextBox 17"/>
          <p:cNvSpPr txBox="1"/>
          <p:nvPr/>
        </p:nvSpPr>
        <p:spPr>
          <a:xfrm>
            <a:off x="1280160" y="4937759"/>
            <a:ext cx="2743200" cy="274320"/>
          </a:xfrm>
          <a:prstGeom prst="rect">
            <a:avLst/>
          </a:prstGeom>
          <a:noFill/>
        </p:spPr>
        <p:txBody>
          <a:bodyPr wrap="none">
            <a:spAutoFit/>
          </a:bodyPr>
          <a:lstStyle/>
          <a:p>
            <a:pPr>
              <a:defRPr sz="1400" b="1">
                <a:solidFill>
                  <a:srgbClr val="71482D"/>
                </a:solidFill>
                <a:latin typeface="Aptos"/>
              </a:defRPr>
            </a:pPr>
            <a:r>
              <a:t>Customer experience</a:t>
            </a:r>
          </a:p>
        </p:txBody>
      </p:sp>
      <p:sp>
        <p:nvSpPr>
          <p:cNvPr id="19" name="TextBox 18"/>
          <p:cNvSpPr txBox="1"/>
          <p:nvPr/>
        </p:nvSpPr>
        <p:spPr>
          <a:xfrm>
            <a:off x="3749039" y="4937759"/>
            <a:ext cx="7406640" cy="411480"/>
          </a:xfrm>
          <a:prstGeom prst="rect">
            <a:avLst/>
          </a:prstGeom>
          <a:noFill/>
        </p:spPr>
        <p:txBody>
          <a:bodyPr wrap="none">
            <a:spAutoFit/>
          </a:bodyPr>
          <a:lstStyle/>
          <a:p>
            <a:pPr>
              <a:defRPr sz="1100">
                <a:solidFill>
                  <a:srgbClr val="412D22"/>
                </a:solidFill>
                <a:latin typeface="Aptos"/>
              </a:defRPr>
            </a:pPr>
            <a:r>
              <a:t>Use the 3.99 average rating as a baseline and target improvement through service consistency and product quality.</a:t>
            </a:r>
          </a:p>
        </p:txBody>
      </p:sp>
      <p:sp>
        <p:nvSpPr>
          <p:cNvPr id="20" name="Rounded Rectangle 19"/>
          <p:cNvSpPr/>
          <p:nvPr/>
        </p:nvSpPr>
        <p:spPr>
          <a:xfrm>
            <a:off x="566928" y="5655564"/>
            <a:ext cx="10789920" cy="667512"/>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rPr dirty="0"/>
              <a:t>Bottom line</a:t>
            </a:r>
          </a:p>
          <a:p>
            <a:pPr>
              <a:spcBef>
                <a:spcPts val="500"/>
              </a:spcBef>
              <a:defRPr sz="1100">
                <a:solidFill>
                  <a:srgbClr val="412D22"/>
                </a:solidFill>
                <a:latin typeface="Aptos"/>
              </a:defRPr>
            </a:pPr>
            <a:r>
              <a:rPr dirty="0"/>
              <a:t>Focus resources on peak hours, strong promotions, high-volume products and outlet-level improvement.</a:t>
            </a:r>
          </a:p>
        </p:txBody>
      </p:sp>
      <p:sp>
        <p:nvSpPr>
          <p:cNvPr id="21" name="TextBox 20"/>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8CC627B-E521-68B7-FBC0-69374C4C3DC6}"/>
              </a:ext>
            </a:extLst>
          </p:cNvPr>
          <p:cNvSpPr txBox="1"/>
          <p:nvPr/>
        </p:nvSpPr>
        <p:spPr>
          <a:xfrm>
            <a:off x="137652" y="188537"/>
            <a:ext cx="11838038" cy="507831"/>
          </a:xfrm>
          <a:prstGeom prst="rect">
            <a:avLst/>
          </a:prstGeom>
          <a:noFill/>
        </p:spPr>
        <p:txBody>
          <a:bodyPr wrap="square">
            <a:spAutoFit/>
          </a:bodyPr>
          <a:lstStyle/>
          <a:p>
            <a:pPr>
              <a:defRPr sz="2700" b="1">
                <a:solidFill>
                  <a:srgbClr val="412D22"/>
                </a:solidFill>
                <a:latin typeface="Aptos Display"/>
              </a:defRPr>
            </a:pPr>
            <a:r>
              <a:rPr lang="en-IN" sz="2700" dirty="0"/>
              <a:t>8. Dashboard Overview</a:t>
            </a:r>
          </a:p>
        </p:txBody>
      </p:sp>
      <p:pic>
        <p:nvPicPr>
          <p:cNvPr id="12" name="Picture 11">
            <a:extLst>
              <a:ext uri="{FF2B5EF4-FFF2-40B4-BE49-F238E27FC236}">
                <a16:creationId xmlns:a16="http://schemas.microsoft.com/office/drawing/2014/main" id="{D52A346B-5012-5B7E-D500-2C828FA5EADF}"/>
              </a:ext>
            </a:extLst>
          </p:cNvPr>
          <p:cNvPicPr>
            <a:picLocks noChangeAspect="1"/>
          </p:cNvPicPr>
          <p:nvPr/>
        </p:nvPicPr>
        <p:blipFill>
          <a:blip r:embed="rId2"/>
          <a:stretch>
            <a:fillRect/>
          </a:stretch>
        </p:blipFill>
        <p:spPr>
          <a:xfrm>
            <a:off x="1807928" y="796936"/>
            <a:ext cx="8497486" cy="5696745"/>
          </a:xfrm>
          <a:prstGeom prst="rect">
            <a:avLst/>
          </a:prstGeom>
        </p:spPr>
      </p:pic>
    </p:spTree>
    <p:extLst>
      <p:ext uri="{BB962C8B-B14F-4D97-AF65-F5344CB8AC3E}">
        <p14:creationId xmlns:p14="http://schemas.microsoft.com/office/powerpoint/2010/main" val="816847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7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700" b="1">
                <a:solidFill>
                  <a:srgbClr val="412D22"/>
                </a:solidFill>
                <a:latin typeface="Aptos Display"/>
              </a:defRPr>
            </a:pPr>
            <a:r>
              <a:t>Closing Message</a:t>
            </a:r>
          </a:p>
        </p:txBody>
      </p:sp>
      <p:sp>
        <p:nvSpPr>
          <p:cNvPr id="4" name="TextBox 3"/>
          <p:cNvSpPr txBox="1"/>
          <p:nvPr/>
        </p:nvSpPr>
        <p:spPr>
          <a:xfrm>
            <a:off x="566928" y="914400"/>
            <a:ext cx="10789920" cy="347472"/>
          </a:xfrm>
          <a:prstGeom prst="rect">
            <a:avLst/>
          </a:prstGeom>
          <a:noFill/>
        </p:spPr>
        <p:txBody>
          <a:bodyPr wrap="none">
            <a:spAutoFit/>
          </a:bodyPr>
          <a:lstStyle/>
          <a:p>
            <a:pPr>
              <a:defRPr sz="1100">
                <a:solidFill>
                  <a:srgbClr val="665E58"/>
                </a:solidFill>
                <a:latin typeface="Aptos"/>
              </a:defRPr>
            </a:pPr>
            <a:r>
              <a:t>From descriptive analysis to practical action.</a:t>
            </a:r>
          </a:p>
        </p:txBody>
      </p:sp>
      <p:sp>
        <p:nvSpPr>
          <p:cNvPr id="5" name="TextBox 4"/>
          <p:cNvSpPr txBox="1"/>
          <p:nvPr/>
        </p:nvSpPr>
        <p:spPr>
          <a:xfrm>
            <a:off x="822960" y="1508760"/>
            <a:ext cx="10607040" cy="1097280"/>
          </a:xfrm>
          <a:prstGeom prst="rect">
            <a:avLst/>
          </a:prstGeom>
          <a:noFill/>
        </p:spPr>
        <p:txBody>
          <a:bodyPr wrap="none">
            <a:spAutoFit/>
          </a:bodyPr>
          <a:lstStyle/>
          <a:p>
            <a:pPr algn="ctr">
              <a:defRPr sz="2800" b="1">
                <a:solidFill>
                  <a:srgbClr val="412D22"/>
                </a:solidFill>
                <a:latin typeface="Aptos Display"/>
              </a:defRPr>
            </a:pPr>
            <a:r>
              <a:t>“The opportunity is not only to sell more — it is to sell smarter.”</a:t>
            </a:r>
          </a:p>
        </p:txBody>
      </p:sp>
      <p:sp>
        <p:nvSpPr>
          <p:cNvPr id="6" name="Rounded Rectangle 5"/>
          <p:cNvSpPr/>
          <p:nvPr/>
        </p:nvSpPr>
        <p:spPr>
          <a:xfrm>
            <a:off x="1920240" y="2880360"/>
            <a:ext cx="8321040" cy="2057400"/>
          </a:xfrm>
          <a:prstGeom prst="roundRect">
            <a:avLst/>
          </a:prstGeom>
          <a:solidFill>
            <a:srgbClr val="FFFFFF"/>
          </a:solidFill>
          <a:ln>
            <a:solidFill>
              <a:srgbClr val="E1D2C5"/>
            </a:solidFill>
          </a:ln>
        </p:spPr>
        <p:style>
          <a:lnRef idx="1">
            <a:schemeClr val="accent1"/>
          </a:lnRef>
          <a:fillRef idx="3">
            <a:schemeClr val="accent1"/>
          </a:fillRef>
          <a:effectRef idx="2">
            <a:schemeClr val="accent1"/>
          </a:effectRef>
          <a:fontRef idx="minor">
            <a:schemeClr val="lt1"/>
          </a:fontRef>
        </p:style>
        <p:txBody>
          <a:bodyPr lIns="164592" rIns="128016" rtlCol="0" anchor="ctr"/>
          <a:lstStyle/>
          <a:p>
            <a:pPr algn="ctr">
              <a:defRPr sz="1500" b="1">
                <a:solidFill>
                  <a:srgbClr val="71482D"/>
                </a:solidFill>
                <a:latin typeface="Aptos"/>
              </a:defRPr>
            </a:pPr>
            <a:r>
              <a:t>Final stakeholder message</a:t>
            </a:r>
          </a:p>
          <a:p>
            <a:pPr>
              <a:spcBef>
                <a:spcPts val="500"/>
              </a:spcBef>
              <a:defRPr sz="1100">
                <a:solidFill>
                  <a:srgbClr val="412D22"/>
                </a:solidFill>
                <a:latin typeface="Aptos"/>
              </a:defRPr>
            </a:pPr>
            <a:r>
              <a:t>Use data to align staffing with demand.</a:t>
            </a:r>
          </a:p>
          <a:p>
            <a:pPr>
              <a:spcBef>
                <a:spcPts val="500"/>
              </a:spcBef>
              <a:defRPr sz="1100">
                <a:solidFill>
                  <a:srgbClr val="412D22"/>
                </a:solidFill>
                <a:latin typeface="Aptos"/>
              </a:defRPr>
            </a:pPr>
            <a:r>
              <a:t>Concentrate promotions on proven performers.</a:t>
            </a:r>
          </a:p>
          <a:p>
            <a:pPr>
              <a:spcBef>
                <a:spcPts val="500"/>
              </a:spcBef>
              <a:defRPr sz="1100">
                <a:solidFill>
                  <a:srgbClr val="412D22"/>
                </a:solidFill>
                <a:latin typeface="Aptos"/>
              </a:defRPr>
            </a:pPr>
            <a:r>
              <a:t>Benchmark outlet performance and protect high-demand products.</a:t>
            </a:r>
          </a:p>
          <a:p>
            <a:pPr>
              <a:spcBef>
                <a:spcPts val="500"/>
              </a:spcBef>
              <a:defRPr sz="1100">
                <a:solidFill>
                  <a:srgbClr val="412D22"/>
                </a:solidFill>
                <a:latin typeface="Aptos"/>
              </a:defRPr>
            </a:pPr>
            <a:r>
              <a:t>Improve the customer experience while growing revenue.</a:t>
            </a:r>
          </a:p>
        </p:txBody>
      </p:sp>
      <p:sp>
        <p:nvSpPr>
          <p:cNvPr id="7" name="TextBox 6"/>
          <p:cNvSpPr txBox="1"/>
          <p:nvPr/>
        </p:nvSpPr>
        <p:spPr>
          <a:xfrm>
            <a:off x="2011680" y="5257800"/>
            <a:ext cx="8138160" cy="502920"/>
          </a:xfrm>
          <a:prstGeom prst="rect">
            <a:avLst/>
          </a:prstGeom>
          <a:noFill/>
        </p:spPr>
        <p:txBody>
          <a:bodyPr wrap="none">
            <a:spAutoFit/>
          </a:bodyPr>
          <a:lstStyle/>
          <a:p>
            <a:pPr algn="ctr">
              <a:defRPr sz="1800" b="1">
                <a:solidFill>
                  <a:srgbClr val="71482D"/>
                </a:solidFill>
                <a:latin typeface="Aptos"/>
              </a:defRPr>
            </a:pPr>
            <a:r>
              <a:t>Thank you — Questions &amp; Discussion</a:t>
            </a:r>
          </a:p>
        </p:txBody>
      </p:sp>
      <p:sp>
        <p:nvSpPr>
          <p:cNvPr id="8" name="TextBox 7"/>
          <p:cNvSpPr txBox="1"/>
          <p:nvPr/>
        </p:nvSpPr>
        <p:spPr>
          <a:xfrm>
            <a:off x="548640" y="6519672"/>
            <a:ext cx="11064240" cy="201168"/>
          </a:xfrm>
          <a:prstGeom prst="rect">
            <a:avLst/>
          </a:prstGeom>
          <a:noFill/>
        </p:spPr>
        <p:txBody>
          <a:bodyPr wrap="none">
            <a:spAutoFit/>
          </a:bodyPr>
          <a:lstStyle/>
          <a:p>
            <a:pPr algn="r">
              <a:defRPr sz="800">
                <a:solidFill>
                  <a:srgbClr val="665E58"/>
                </a:solidFill>
                <a:latin typeface="Aptos"/>
              </a:defRPr>
            </a:pPr>
            <a:r>
              <a:t>BrewBean Café Pvt. Ltd.  |  Sales &amp; Operations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1719</Words>
  <Application>Microsoft Office PowerPoint</Application>
  <PresentationFormat>Widescreen</PresentationFormat>
  <Paragraphs>146</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kalvinprakash</dc:creator>
  <cp:keywords/>
  <dc:description>generated using python-pptx</dc:description>
  <cp:lastModifiedBy>Kalvin Jayaprakash J</cp:lastModifiedBy>
  <cp:revision>6</cp:revision>
  <dcterms:created xsi:type="dcterms:W3CDTF">2013-01-27T09:14:16Z</dcterms:created>
  <dcterms:modified xsi:type="dcterms:W3CDTF">2026-09-15T05:39:29Z</dcterms:modified>
  <cp:category/>
</cp:coreProperties>
</file>